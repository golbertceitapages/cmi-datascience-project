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8" r:id="rId3"/>
    <p:sldId id="257" r:id="rId4"/>
    <p:sldId id="259" r:id="rId5"/>
    <p:sldId id="260" r:id="rId6"/>
    <p:sldId id="276" r:id="rId7"/>
    <p:sldId id="261" r:id="rId8"/>
    <p:sldId id="262" r:id="rId9"/>
    <p:sldId id="263" r:id="rId10"/>
    <p:sldId id="264" r:id="rId11"/>
    <p:sldId id="275" r:id="rId12"/>
    <p:sldId id="265" r:id="rId13"/>
    <p:sldId id="266" r:id="rId14"/>
    <p:sldId id="268" r:id="rId15"/>
    <p:sldId id="269" r:id="rId16"/>
    <p:sldId id="270" r:id="rId17"/>
    <p:sldId id="271" r:id="rId18"/>
    <p:sldId id="272" r:id="rId19"/>
    <p:sldId id="273" r:id="rId20"/>
    <p:sldId id="274" r:id="rId2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60"/>
  </p:normalViewPr>
  <p:slideViewPr>
    <p:cSldViewPr snapToGrid="0">
      <p:cViewPr varScale="1">
        <p:scale>
          <a:sx n="81" d="100"/>
          <a:sy n="81" d="100"/>
        </p:scale>
        <p:origin x="64" y="16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087291-E1A2-4A7B-A2CF-1645DE594396}" type="datetimeFigureOut">
              <a:rPr lang="nl-NL" smtClean="0"/>
              <a:t>27-1-2026</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1E098-3EE2-40B9-8783-16883FAEE14A}" type="slidenum">
              <a:rPr lang="nl-NL" smtClean="0"/>
              <a:t>‹#›</a:t>
            </a:fld>
            <a:endParaRPr lang="nl-NL"/>
          </a:p>
        </p:txBody>
      </p:sp>
    </p:spTree>
    <p:extLst>
      <p:ext uri="{BB962C8B-B14F-4D97-AF65-F5344CB8AC3E}">
        <p14:creationId xmlns:p14="http://schemas.microsoft.com/office/powerpoint/2010/main" val="2580045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FBA0-6828-95D3-154E-C9DAE67B0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EEE9C-77D3-A532-F518-BAD18CCB6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019ED-1995-630C-F939-55F3D40F6AA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80103D3-359C-0683-6C84-BAB5333708AA}"/>
              </a:ext>
            </a:extLst>
          </p:cNvPr>
          <p:cNvSpPr>
            <a:spLocks noGrp="1"/>
          </p:cNvSpPr>
          <p:nvPr>
            <p:ph type="sldNum" sz="quarter" idx="5"/>
          </p:nvPr>
        </p:nvSpPr>
        <p:spPr/>
        <p:txBody>
          <a:bodyPr/>
          <a:lstStyle/>
          <a:p>
            <a:fld id="{9E71E098-3EE2-40B9-8783-16883FAEE14A}" type="slidenum">
              <a:rPr lang="nl-NL" smtClean="0"/>
              <a:t>2</a:t>
            </a:fld>
            <a:endParaRPr lang="nl-NL"/>
          </a:p>
        </p:txBody>
      </p:sp>
    </p:spTree>
    <p:extLst>
      <p:ext uri="{BB962C8B-B14F-4D97-AF65-F5344CB8AC3E}">
        <p14:creationId xmlns:p14="http://schemas.microsoft.com/office/powerpoint/2010/main" val="366485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Imagine you’re a scout for a tennis club who is looking for promising young players. According to our data 743 new players start playing tennis at the ATP level per year of which 631 are under 26. It is difficult to analyse all these players at the same time. Especially when you need to allocate resources to the most promising ones so they can reach their potential.</a:t>
            </a:r>
          </a:p>
          <a:p>
            <a:r>
              <a:rPr lang="en-GB" dirty="0"/>
              <a:t>Therefore, our research question is can we predict the peak </a:t>
            </a:r>
            <a:r>
              <a:rPr lang="en-GB" dirty="0" err="1"/>
              <a:t>elo</a:t>
            </a:r>
            <a:r>
              <a:rPr lang="en-GB" dirty="0"/>
              <a:t> of a player. This is especially useful for young players but can also be used by older players to decide if they want to continue playing even after they’ve reached their peak. </a:t>
            </a:r>
          </a:p>
        </p:txBody>
      </p:sp>
      <p:sp>
        <p:nvSpPr>
          <p:cNvPr id="4" name="Slide Number Placeholder 3"/>
          <p:cNvSpPr>
            <a:spLocks noGrp="1"/>
          </p:cNvSpPr>
          <p:nvPr>
            <p:ph type="sldNum" sz="quarter" idx="5"/>
          </p:nvPr>
        </p:nvSpPr>
        <p:spPr/>
        <p:txBody>
          <a:bodyPr/>
          <a:lstStyle/>
          <a:p>
            <a:fld id="{9E71E098-3EE2-40B9-8783-16883FAEE14A}" type="slidenum">
              <a:rPr lang="nl-NL" smtClean="0"/>
              <a:t>3</a:t>
            </a:fld>
            <a:endParaRPr lang="nl-NL"/>
          </a:p>
        </p:txBody>
      </p:sp>
    </p:spTree>
    <p:extLst>
      <p:ext uri="{BB962C8B-B14F-4D97-AF65-F5344CB8AC3E}">
        <p14:creationId xmlns:p14="http://schemas.microsoft.com/office/powerpoint/2010/main" val="69611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F7021-985D-DB9C-B70D-AF04AF699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9C5BE-5E18-E51A-BCBC-CF035B969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D941B-E812-2153-CE7F-360BBF6C5CFA}"/>
              </a:ext>
            </a:extLst>
          </p:cNvPr>
          <p:cNvSpPr>
            <a:spLocks noGrp="1"/>
          </p:cNvSpPr>
          <p:nvPr>
            <p:ph type="body" idx="1"/>
          </p:nvPr>
        </p:nvSpPr>
        <p:spPr/>
        <p:txBody>
          <a:bodyPr/>
          <a:lstStyle/>
          <a:p>
            <a:r>
              <a:rPr lang="en-US" dirty="0"/>
              <a:t>What features were present (that we also used)</a:t>
            </a:r>
            <a:br>
              <a:rPr lang="en-US" dirty="0"/>
            </a:br>
            <a:r>
              <a:rPr lang="en-US" dirty="0"/>
              <a:t>- Make sure to mention the match statistics and lack of them in the lower tier matches; forcing us to use scores.</a:t>
            </a:r>
            <a:br>
              <a:rPr lang="en-US" dirty="0"/>
            </a:br>
            <a:r>
              <a:rPr lang="en-US" dirty="0"/>
              <a:t>- Explain our rolling average features and why we chose them (captures recent form/performance better)</a:t>
            </a:r>
            <a:br>
              <a:rPr lang="en-US" dirty="0"/>
            </a:br>
            <a:r>
              <a:rPr lang="en-US" dirty="0"/>
              <a:t>- Explain out ELO rating and why it's better than ATP rank (ATP rank updates lag by a week while our rating system does it instantly) ATP rank also does not look further back than a year and is based on the rank points.</a:t>
            </a:r>
            <a:endParaRPr lang="en-GB" dirty="0"/>
          </a:p>
        </p:txBody>
      </p:sp>
      <p:sp>
        <p:nvSpPr>
          <p:cNvPr id="4" name="Slide Number Placeholder 3">
            <a:extLst>
              <a:ext uri="{FF2B5EF4-FFF2-40B4-BE49-F238E27FC236}">
                <a16:creationId xmlns:a16="http://schemas.microsoft.com/office/drawing/2014/main" id="{4830BB41-75FD-1A13-A78C-DAA78C2FA990}"/>
              </a:ext>
            </a:extLst>
          </p:cNvPr>
          <p:cNvSpPr>
            <a:spLocks noGrp="1"/>
          </p:cNvSpPr>
          <p:nvPr>
            <p:ph type="sldNum" sz="quarter" idx="5"/>
          </p:nvPr>
        </p:nvSpPr>
        <p:spPr/>
        <p:txBody>
          <a:bodyPr/>
          <a:lstStyle/>
          <a:p>
            <a:fld id="{9E71E098-3EE2-40B9-8783-16883FAEE14A}" type="slidenum">
              <a:rPr lang="nl-NL" smtClean="0"/>
              <a:t>4</a:t>
            </a:fld>
            <a:endParaRPr lang="nl-NL"/>
          </a:p>
        </p:txBody>
      </p:sp>
    </p:spTree>
    <p:extLst>
      <p:ext uri="{BB962C8B-B14F-4D97-AF65-F5344CB8AC3E}">
        <p14:creationId xmlns:p14="http://schemas.microsoft.com/office/powerpoint/2010/main" val="911477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CD9D-C278-689F-E8B6-929B89F88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9025B-4888-C70A-667F-9275E85A31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57EA0-7F39-37BB-9932-37CB37782D1A}"/>
              </a:ext>
            </a:extLst>
          </p:cNvPr>
          <p:cNvSpPr>
            <a:spLocks noGrp="1"/>
          </p:cNvSpPr>
          <p:nvPr>
            <p:ph type="body" idx="1"/>
          </p:nvPr>
        </p:nvSpPr>
        <p:spPr/>
        <p:txBody>
          <a:bodyPr/>
          <a:lstStyle/>
          <a:p>
            <a:r>
              <a:rPr lang="en-US" dirty="0"/>
              <a:t>Briefly explain how it works, benefits and downsides. </a:t>
            </a:r>
            <a:endParaRPr lang="en-GB" dirty="0"/>
          </a:p>
        </p:txBody>
      </p:sp>
      <p:sp>
        <p:nvSpPr>
          <p:cNvPr id="4" name="Slide Number Placeholder 3">
            <a:extLst>
              <a:ext uri="{FF2B5EF4-FFF2-40B4-BE49-F238E27FC236}">
                <a16:creationId xmlns:a16="http://schemas.microsoft.com/office/drawing/2014/main" id="{83911EFB-FC1A-B33C-C61A-EFBD717D8328}"/>
              </a:ext>
            </a:extLst>
          </p:cNvPr>
          <p:cNvSpPr>
            <a:spLocks noGrp="1"/>
          </p:cNvSpPr>
          <p:nvPr>
            <p:ph type="sldNum" sz="quarter" idx="5"/>
          </p:nvPr>
        </p:nvSpPr>
        <p:spPr/>
        <p:txBody>
          <a:bodyPr/>
          <a:lstStyle/>
          <a:p>
            <a:fld id="{9E71E098-3EE2-40B9-8783-16883FAEE14A}" type="slidenum">
              <a:rPr lang="nl-NL" smtClean="0"/>
              <a:t>5</a:t>
            </a:fld>
            <a:endParaRPr lang="nl-NL"/>
          </a:p>
        </p:txBody>
      </p:sp>
    </p:spTree>
    <p:extLst>
      <p:ext uri="{BB962C8B-B14F-4D97-AF65-F5344CB8AC3E}">
        <p14:creationId xmlns:p14="http://schemas.microsoft.com/office/powerpoint/2010/main" val="2553725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7A3E4-D411-00CF-D63C-D672585DB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42C41-0E12-85C1-D075-BB68A1ED6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8F115-2972-6979-B45D-B433C4816416}"/>
              </a:ext>
            </a:extLst>
          </p:cNvPr>
          <p:cNvSpPr>
            <a:spLocks noGrp="1"/>
          </p:cNvSpPr>
          <p:nvPr>
            <p:ph type="body" idx="1"/>
          </p:nvPr>
        </p:nvSpPr>
        <p:spPr/>
        <p:txBody>
          <a:bodyPr/>
          <a:lstStyle/>
          <a:p>
            <a:r>
              <a:rPr lang="en-US" dirty="0"/>
              <a:t>Features</a:t>
            </a:r>
            <a:endParaRPr lang="en-GB" dirty="0"/>
          </a:p>
        </p:txBody>
      </p:sp>
      <p:sp>
        <p:nvSpPr>
          <p:cNvPr id="4" name="Slide Number Placeholder 3">
            <a:extLst>
              <a:ext uri="{FF2B5EF4-FFF2-40B4-BE49-F238E27FC236}">
                <a16:creationId xmlns:a16="http://schemas.microsoft.com/office/drawing/2014/main" id="{E5B31A8F-4D35-15A8-3FDE-8F4DFAFA29C8}"/>
              </a:ext>
            </a:extLst>
          </p:cNvPr>
          <p:cNvSpPr>
            <a:spLocks noGrp="1"/>
          </p:cNvSpPr>
          <p:nvPr>
            <p:ph type="sldNum" sz="quarter" idx="5"/>
          </p:nvPr>
        </p:nvSpPr>
        <p:spPr/>
        <p:txBody>
          <a:bodyPr/>
          <a:lstStyle/>
          <a:p>
            <a:fld id="{9E71E098-3EE2-40B9-8783-16883FAEE14A}" type="slidenum">
              <a:rPr lang="nl-NL" smtClean="0"/>
              <a:t>6</a:t>
            </a:fld>
            <a:endParaRPr lang="nl-NL"/>
          </a:p>
        </p:txBody>
      </p:sp>
    </p:spTree>
    <p:extLst>
      <p:ext uri="{BB962C8B-B14F-4D97-AF65-F5344CB8AC3E}">
        <p14:creationId xmlns:p14="http://schemas.microsoft.com/office/powerpoint/2010/main" val="2122194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34125-E3A2-BAEC-CE92-ADB26E46F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D9671-CB36-8D31-648B-1C24D55D9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C2E94-FA36-B8E9-D986-3C300F5DD0E7}"/>
              </a:ext>
            </a:extLst>
          </p:cNvPr>
          <p:cNvSpPr>
            <a:spLocks noGrp="1"/>
          </p:cNvSpPr>
          <p:nvPr>
            <p:ph type="body" idx="1"/>
          </p:nvPr>
        </p:nvSpPr>
        <p:spPr/>
        <p:txBody>
          <a:bodyPr/>
          <a:lstStyle/>
          <a:p>
            <a:r>
              <a:rPr lang="en-US" dirty="0"/>
              <a:t>Then explain how we binned the data (show boxplot)</a:t>
            </a:r>
            <a:endParaRPr lang="en-GB" dirty="0"/>
          </a:p>
        </p:txBody>
      </p:sp>
      <p:sp>
        <p:nvSpPr>
          <p:cNvPr id="4" name="Slide Number Placeholder 3">
            <a:extLst>
              <a:ext uri="{FF2B5EF4-FFF2-40B4-BE49-F238E27FC236}">
                <a16:creationId xmlns:a16="http://schemas.microsoft.com/office/drawing/2014/main" id="{33AD3B55-A745-F1ED-337B-9B37E726D40E}"/>
              </a:ext>
            </a:extLst>
          </p:cNvPr>
          <p:cNvSpPr>
            <a:spLocks noGrp="1"/>
          </p:cNvSpPr>
          <p:nvPr>
            <p:ph type="sldNum" sz="quarter" idx="5"/>
          </p:nvPr>
        </p:nvSpPr>
        <p:spPr/>
        <p:txBody>
          <a:bodyPr/>
          <a:lstStyle/>
          <a:p>
            <a:fld id="{9E71E098-3EE2-40B9-8783-16883FAEE14A}" type="slidenum">
              <a:rPr lang="nl-NL" smtClean="0"/>
              <a:t>7</a:t>
            </a:fld>
            <a:endParaRPr lang="nl-NL"/>
          </a:p>
        </p:txBody>
      </p:sp>
    </p:spTree>
    <p:extLst>
      <p:ext uri="{BB962C8B-B14F-4D97-AF65-F5344CB8AC3E}">
        <p14:creationId xmlns:p14="http://schemas.microsoft.com/office/powerpoint/2010/main" val="3164276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1B84-5031-55C1-09FD-DD5B9083D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546FA-92C0-5DF8-9C67-5A8655CAC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EE5F2-5A9E-B5F7-715D-16B50FF0FC87}"/>
              </a:ext>
            </a:extLst>
          </p:cNvPr>
          <p:cNvSpPr>
            <a:spLocks noGrp="1"/>
          </p:cNvSpPr>
          <p:nvPr>
            <p:ph type="body" idx="1"/>
          </p:nvPr>
        </p:nvSpPr>
        <p:spPr/>
        <p:txBody>
          <a:bodyPr/>
          <a:lstStyle/>
          <a:p>
            <a:r>
              <a:rPr lang="en-US" dirty="0"/>
              <a:t>how the K-value was chosen</a:t>
            </a:r>
            <a:endParaRPr lang="en-GB" dirty="0"/>
          </a:p>
        </p:txBody>
      </p:sp>
      <p:sp>
        <p:nvSpPr>
          <p:cNvPr id="4" name="Slide Number Placeholder 3">
            <a:extLst>
              <a:ext uri="{FF2B5EF4-FFF2-40B4-BE49-F238E27FC236}">
                <a16:creationId xmlns:a16="http://schemas.microsoft.com/office/drawing/2014/main" id="{CFCA7DD2-5700-12AB-4961-139B3434D45D}"/>
              </a:ext>
            </a:extLst>
          </p:cNvPr>
          <p:cNvSpPr>
            <a:spLocks noGrp="1"/>
          </p:cNvSpPr>
          <p:nvPr>
            <p:ph type="sldNum" sz="quarter" idx="5"/>
          </p:nvPr>
        </p:nvSpPr>
        <p:spPr/>
        <p:txBody>
          <a:bodyPr/>
          <a:lstStyle/>
          <a:p>
            <a:fld id="{9E71E098-3EE2-40B9-8783-16883FAEE14A}" type="slidenum">
              <a:rPr lang="nl-NL" smtClean="0"/>
              <a:t>8</a:t>
            </a:fld>
            <a:endParaRPr lang="nl-NL"/>
          </a:p>
        </p:txBody>
      </p:sp>
    </p:spTree>
    <p:extLst>
      <p:ext uri="{BB962C8B-B14F-4D97-AF65-F5344CB8AC3E}">
        <p14:creationId xmlns:p14="http://schemas.microsoft.com/office/powerpoint/2010/main" val="1222429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C7B7D-AFE0-596C-3262-6DB6ED85B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5F992-584D-EF25-5C18-D300FFB9A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5E9BD-21B6-BCE4-328D-5F6CC3E84C29}"/>
              </a:ext>
            </a:extLst>
          </p:cNvPr>
          <p:cNvSpPr>
            <a:spLocks noGrp="1"/>
          </p:cNvSpPr>
          <p:nvPr>
            <p:ph type="body" idx="1"/>
          </p:nvPr>
        </p:nvSpPr>
        <p:spPr/>
        <p:txBody>
          <a:bodyPr/>
          <a:lstStyle/>
          <a:p>
            <a:r>
              <a:rPr lang="en-US" dirty="0"/>
              <a:t>Then explain the training scenarios.</a:t>
            </a:r>
            <a:endParaRPr lang="en-GB" dirty="0"/>
          </a:p>
        </p:txBody>
      </p:sp>
      <p:sp>
        <p:nvSpPr>
          <p:cNvPr id="4" name="Slide Number Placeholder 3">
            <a:extLst>
              <a:ext uri="{FF2B5EF4-FFF2-40B4-BE49-F238E27FC236}">
                <a16:creationId xmlns:a16="http://schemas.microsoft.com/office/drawing/2014/main" id="{EF679818-5693-24E2-9334-2D1AFE07872F}"/>
              </a:ext>
            </a:extLst>
          </p:cNvPr>
          <p:cNvSpPr>
            <a:spLocks noGrp="1"/>
          </p:cNvSpPr>
          <p:nvPr>
            <p:ph type="sldNum" sz="quarter" idx="5"/>
          </p:nvPr>
        </p:nvSpPr>
        <p:spPr/>
        <p:txBody>
          <a:bodyPr/>
          <a:lstStyle/>
          <a:p>
            <a:fld id="{9E71E098-3EE2-40B9-8783-16883FAEE14A}" type="slidenum">
              <a:rPr lang="nl-NL" smtClean="0"/>
              <a:t>9</a:t>
            </a:fld>
            <a:endParaRPr lang="nl-NL"/>
          </a:p>
        </p:txBody>
      </p:sp>
    </p:spTree>
    <p:extLst>
      <p:ext uri="{BB962C8B-B14F-4D97-AF65-F5344CB8AC3E}">
        <p14:creationId xmlns:p14="http://schemas.microsoft.com/office/powerpoint/2010/main" val="2277887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581DA-FA64-4FEE-A799-582616C51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35BEF-AD9D-10ED-83F7-E48CA959A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5EBEC-0CA6-6049-5C56-8E61B741CC0B}"/>
              </a:ext>
            </a:extLst>
          </p:cNvPr>
          <p:cNvSpPr>
            <a:spLocks noGrp="1"/>
          </p:cNvSpPr>
          <p:nvPr>
            <p:ph type="body" idx="1"/>
          </p:nvPr>
        </p:nvSpPr>
        <p:spPr/>
        <p:txBody>
          <a:bodyPr/>
          <a:lstStyle/>
          <a:p>
            <a:r>
              <a:rPr lang="en-US" dirty="0"/>
              <a:t>Briefly explain how it works, benefits and downsides.</a:t>
            </a:r>
            <a:endParaRPr lang="en-GB" dirty="0"/>
          </a:p>
        </p:txBody>
      </p:sp>
      <p:sp>
        <p:nvSpPr>
          <p:cNvPr id="4" name="Slide Number Placeholder 3">
            <a:extLst>
              <a:ext uri="{FF2B5EF4-FFF2-40B4-BE49-F238E27FC236}">
                <a16:creationId xmlns:a16="http://schemas.microsoft.com/office/drawing/2014/main" id="{4A5DC392-B7E1-2550-C64A-85F27A1E614B}"/>
              </a:ext>
            </a:extLst>
          </p:cNvPr>
          <p:cNvSpPr>
            <a:spLocks noGrp="1"/>
          </p:cNvSpPr>
          <p:nvPr>
            <p:ph type="sldNum" sz="quarter" idx="5"/>
          </p:nvPr>
        </p:nvSpPr>
        <p:spPr/>
        <p:txBody>
          <a:bodyPr/>
          <a:lstStyle/>
          <a:p>
            <a:fld id="{9E71E098-3EE2-40B9-8783-16883FAEE14A}" type="slidenum">
              <a:rPr lang="nl-NL" smtClean="0"/>
              <a:t>10</a:t>
            </a:fld>
            <a:endParaRPr lang="nl-NL"/>
          </a:p>
        </p:txBody>
      </p:sp>
    </p:spTree>
    <p:extLst>
      <p:ext uri="{BB962C8B-B14F-4D97-AF65-F5344CB8AC3E}">
        <p14:creationId xmlns:p14="http://schemas.microsoft.com/office/powerpoint/2010/main" val="4180437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32655-A338-F10E-5054-CDEC57547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E638E-39B6-7673-4695-2D1D9D4B9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7DB7E4-5406-3DB9-9BA6-79BED2D84E99}"/>
              </a:ext>
            </a:extLst>
          </p:cNvPr>
          <p:cNvSpPr>
            <a:spLocks noGrp="1"/>
          </p:cNvSpPr>
          <p:nvPr>
            <p:ph type="body" idx="1"/>
          </p:nvPr>
        </p:nvSpPr>
        <p:spPr/>
        <p:txBody>
          <a:bodyPr/>
          <a:lstStyle/>
          <a:p>
            <a:r>
              <a:rPr lang="en-GB" dirty="0"/>
              <a:t>Features used</a:t>
            </a:r>
          </a:p>
        </p:txBody>
      </p:sp>
      <p:sp>
        <p:nvSpPr>
          <p:cNvPr id="4" name="Slide Number Placeholder 3">
            <a:extLst>
              <a:ext uri="{FF2B5EF4-FFF2-40B4-BE49-F238E27FC236}">
                <a16:creationId xmlns:a16="http://schemas.microsoft.com/office/drawing/2014/main" id="{7314A5CB-66EF-60AF-BD6B-BAD7C7E33A18}"/>
              </a:ext>
            </a:extLst>
          </p:cNvPr>
          <p:cNvSpPr>
            <a:spLocks noGrp="1"/>
          </p:cNvSpPr>
          <p:nvPr>
            <p:ph type="sldNum" sz="quarter" idx="5"/>
          </p:nvPr>
        </p:nvSpPr>
        <p:spPr/>
        <p:txBody>
          <a:bodyPr/>
          <a:lstStyle/>
          <a:p>
            <a:fld id="{9E71E098-3EE2-40B9-8783-16883FAEE14A}" type="slidenum">
              <a:rPr lang="nl-NL" smtClean="0"/>
              <a:t>11</a:t>
            </a:fld>
            <a:endParaRPr lang="nl-NL"/>
          </a:p>
        </p:txBody>
      </p:sp>
    </p:spTree>
    <p:extLst>
      <p:ext uri="{BB962C8B-B14F-4D97-AF65-F5344CB8AC3E}">
        <p14:creationId xmlns:p14="http://schemas.microsoft.com/office/powerpoint/2010/main" val="4170104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9BB23-AA55-AB83-BD7A-C00019C61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7A8C3-80C2-7AD9-0606-0F8F34333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7C7D1-F6B3-23A9-1C61-65FDA0A6B6F2}"/>
              </a:ext>
            </a:extLst>
          </p:cNvPr>
          <p:cNvSpPr>
            <a:spLocks noGrp="1"/>
          </p:cNvSpPr>
          <p:nvPr>
            <p:ph type="body" idx="1"/>
          </p:nvPr>
        </p:nvSpPr>
        <p:spPr/>
        <p:txBody>
          <a:bodyPr/>
          <a:lstStyle/>
          <a:p>
            <a:r>
              <a:rPr lang="en-US" dirty="0"/>
              <a:t>Then explain how it was trained</a:t>
            </a:r>
            <a:endParaRPr lang="en-GB" dirty="0"/>
          </a:p>
        </p:txBody>
      </p:sp>
      <p:sp>
        <p:nvSpPr>
          <p:cNvPr id="4" name="Slide Number Placeholder 3">
            <a:extLst>
              <a:ext uri="{FF2B5EF4-FFF2-40B4-BE49-F238E27FC236}">
                <a16:creationId xmlns:a16="http://schemas.microsoft.com/office/drawing/2014/main" id="{71AB5568-6EA0-C71C-3455-2317B6D32F85}"/>
              </a:ext>
            </a:extLst>
          </p:cNvPr>
          <p:cNvSpPr>
            <a:spLocks noGrp="1"/>
          </p:cNvSpPr>
          <p:nvPr>
            <p:ph type="sldNum" sz="quarter" idx="5"/>
          </p:nvPr>
        </p:nvSpPr>
        <p:spPr/>
        <p:txBody>
          <a:bodyPr/>
          <a:lstStyle/>
          <a:p>
            <a:fld id="{9E71E098-3EE2-40B9-8783-16883FAEE14A}" type="slidenum">
              <a:rPr lang="nl-NL" smtClean="0"/>
              <a:t>12</a:t>
            </a:fld>
            <a:endParaRPr lang="nl-NL"/>
          </a:p>
        </p:txBody>
      </p:sp>
    </p:spTree>
    <p:extLst>
      <p:ext uri="{BB962C8B-B14F-4D97-AF65-F5344CB8AC3E}">
        <p14:creationId xmlns:p14="http://schemas.microsoft.com/office/powerpoint/2010/main" val="3520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E5D8D-A3EC-CB77-6EC9-37F18EF35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39B4F-546A-2DD4-6AB7-648A7C6CD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82C61-8E36-C455-430F-F5A226ABD260}"/>
              </a:ext>
            </a:extLst>
          </p:cNvPr>
          <p:cNvSpPr>
            <a:spLocks noGrp="1"/>
          </p:cNvSpPr>
          <p:nvPr>
            <p:ph type="body" idx="1"/>
          </p:nvPr>
        </p:nvSpPr>
        <p:spPr/>
        <p:txBody>
          <a:bodyPr/>
          <a:lstStyle/>
          <a:p>
            <a:r>
              <a:rPr lang="nl-NL" dirty="0" err="1"/>
              <a:t>What</a:t>
            </a:r>
            <a:r>
              <a:rPr lang="nl-NL" dirty="0"/>
              <a:t> hyperparameters </a:t>
            </a:r>
            <a:r>
              <a:rPr lang="nl-NL" dirty="0" err="1"/>
              <a:t>were</a:t>
            </a:r>
            <a:r>
              <a:rPr lang="nl-NL" dirty="0"/>
              <a:t> </a:t>
            </a:r>
            <a:r>
              <a:rPr lang="nl-NL" dirty="0" err="1"/>
              <a:t>used</a:t>
            </a:r>
            <a:endParaRPr lang="en-GB" dirty="0"/>
          </a:p>
        </p:txBody>
      </p:sp>
      <p:sp>
        <p:nvSpPr>
          <p:cNvPr id="4" name="Slide Number Placeholder 3">
            <a:extLst>
              <a:ext uri="{FF2B5EF4-FFF2-40B4-BE49-F238E27FC236}">
                <a16:creationId xmlns:a16="http://schemas.microsoft.com/office/drawing/2014/main" id="{935FF7CA-5AFE-3486-2A71-170C4F2E7BD3}"/>
              </a:ext>
            </a:extLst>
          </p:cNvPr>
          <p:cNvSpPr>
            <a:spLocks noGrp="1"/>
          </p:cNvSpPr>
          <p:nvPr>
            <p:ph type="sldNum" sz="quarter" idx="5"/>
          </p:nvPr>
        </p:nvSpPr>
        <p:spPr/>
        <p:txBody>
          <a:bodyPr/>
          <a:lstStyle/>
          <a:p>
            <a:fld id="{9E71E098-3EE2-40B9-8783-16883FAEE14A}" type="slidenum">
              <a:rPr lang="nl-NL" smtClean="0"/>
              <a:t>13</a:t>
            </a:fld>
            <a:endParaRPr lang="nl-NL"/>
          </a:p>
        </p:txBody>
      </p:sp>
    </p:spTree>
    <p:extLst>
      <p:ext uri="{BB962C8B-B14F-4D97-AF65-F5344CB8AC3E}">
        <p14:creationId xmlns:p14="http://schemas.microsoft.com/office/powerpoint/2010/main" val="3116197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2D533-B706-FF30-7CC4-E3AE6E3A0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208EE-4238-9222-5343-9D99DA4A4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A337E-7552-5876-2F90-192F1F542D4D}"/>
              </a:ext>
            </a:extLst>
          </p:cNvPr>
          <p:cNvSpPr>
            <a:spLocks noGrp="1"/>
          </p:cNvSpPr>
          <p:nvPr>
            <p:ph type="body" idx="1"/>
          </p:nvPr>
        </p:nvSpPr>
        <p:spPr/>
        <p:txBody>
          <a:bodyPr/>
          <a:lstStyle/>
          <a:p>
            <a:r>
              <a:rPr lang="en-GB" dirty="0"/>
              <a:t>KNN High level overview</a:t>
            </a:r>
          </a:p>
          <a:p>
            <a:r>
              <a:rPr lang="en-GB" dirty="0"/>
              <a:t>Include confusion matrix, balanced accuracy for both </a:t>
            </a:r>
            <a:r>
              <a:rPr lang="en-GB" dirty="0" err="1"/>
              <a:t>sitations</a:t>
            </a:r>
            <a:endParaRPr lang="en-GB" dirty="0"/>
          </a:p>
        </p:txBody>
      </p:sp>
      <p:sp>
        <p:nvSpPr>
          <p:cNvPr id="4" name="Slide Number Placeholder 3">
            <a:extLst>
              <a:ext uri="{FF2B5EF4-FFF2-40B4-BE49-F238E27FC236}">
                <a16:creationId xmlns:a16="http://schemas.microsoft.com/office/drawing/2014/main" id="{F509D056-AD9F-08A4-B40F-9601FCBE14ED}"/>
              </a:ext>
            </a:extLst>
          </p:cNvPr>
          <p:cNvSpPr>
            <a:spLocks noGrp="1"/>
          </p:cNvSpPr>
          <p:nvPr>
            <p:ph type="sldNum" sz="quarter" idx="5"/>
          </p:nvPr>
        </p:nvSpPr>
        <p:spPr/>
        <p:txBody>
          <a:bodyPr/>
          <a:lstStyle/>
          <a:p>
            <a:fld id="{9E71E098-3EE2-40B9-8783-16883FAEE14A}" type="slidenum">
              <a:rPr lang="nl-NL" smtClean="0"/>
              <a:t>14</a:t>
            </a:fld>
            <a:endParaRPr lang="nl-NL"/>
          </a:p>
        </p:txBody>
      </p:sp>
    </p:spTree>
    <p:extLst>
      <p:ext uri="{BB962C8B-B14F-4D97-AF65-F5344CB8AC3E}">
        <p14:creationId xmlns:p14="http://schemas.microsoft.com/office/powerpoint/2010/main" val="2955375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B5908-E533-68EF-3F1C-5A9EE3EAB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C94B8-2407-ED2F-1460-F21AFBE15A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7A5E4-07D0-B1D8-1702-14B7502B455F}"/>
              </a:ext>
            </a:extLst>
          </p:cNvPr>
          <p:cNvSpPr>
            <a:spLocks noGrp="1"/>
          </p:cNvSpPr>
          <p:nvPr>
            <p:ph type="body" idx="1"/>
          </p:nvPr>
        </p:nvSpPr>
        <p:spPr/>
        <p:txBody>
          <a:bodyPr/>
          <a:lstStyle/>
          <a:p>
            <a:r>
              <a:rPr lang="en-GB" dirty="0" err="1"/>
              <a:t>XGBoost</a:t>
            </a:r>
            <a:r>
              <a:rPr lang="en-GB" dirty="0"/>
              <a:t> high level overview</a:t>
            </a:r>
          </a:p>
        </p:txBody>
      </p:sp>
      <p:sp>
        <p:nvSpPr>
          <p:cNvPr id="4" name="Slide Number Placeholder 3">
            <a:extLst>
              <a:ext uri="{FF2B5EF4-FFF2-40B4-BE49-F238E27FC236}">
                <a16:creationId xmlns:a16="http://schemas.microsoft.com/office/drawing/2014/main" id="{03674B81-2790-FA53-889D-49D6B72FA70D}"/>
              </a:ext>
            </a:extLst>
          </p:cNvPr>
          <p:cNvSpPr>
            <a:spLocks noGrp="1"/>
          </p:cNvSpPr>
          <p:nvPr>
            <p:ph type="sldNum" sz="quarter" idx="5"/>
          </p:nvPr>
        </p:nvSpPr>
        <p:spPr/>
        <p:txBody>
          <a:bodyPr/>
          <a:lstStyle/>
          <a:p>
            <a:fld id="{9E71E098-3EE2-40B9-8783-16883FAEE14A}" type="slidenum">
              <a:rPr lang="nl-NL" smtClean="0"/>
              <a:t>15</a:t>
            </a:fld>
            <a:endParaRPr lang="nl-NL"/>
          </a:p>
        </p:txBody>
      </p:sp>
    </p:spTree>
    <p:extLst>
      <p:ext uri="{BB962C8B-B14F-4D97-AF65-F5344CB8AC3E}">
        <p14:creationId xmlns:p14="http://schemas.microsoft.com/office/powerpoint/2010/main" val="1217589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DF7E3-68B7-9D16-B6B8-CFA4D637D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EC016-0D96-A964-4B44-431C559C8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1BB87-FBE1-4746-4E53-933A8C04E9D8}"/>
              </a:ext>
            </a:extLst>
          </p:cNvPr>
          <p:cNvSpPr>
            <a:spLocks noGrp="1"/>
          </p:cNvSpPr>
          <p:nvPr>
            <p:ph type="body" idx="1"/>
          </p:nvPr>
        </p:nvSpPr>
        <p:spPr/>
        <p:txBody>
          <a:bodyPr/>
          <a:lstStyle/>
          <a:p>
            <a:r>
              <a:rPr lang="en-GB" dirty="0"/>
              <a:t>Compare player 1 between KNN and </a:t>
            </a:r>
            <a:r>
              <a:rPr lang="en-GB" dirty="0" err="1"/>
              <a:t>XGBoost</a:t>
            </a:r>
            <a:r>
              <a:rPr lang="en-GB" dirty="0"/>
              <a:t> for 3,5,10 years</a:t>
            </a:r>
          </a:p>
        </p:txBody>
      </p:sp>
      <p:sp>
        <p:nvSpPr>
          <p:cNvPr id="4" name="Slide Number Placeholder 3">
            <a:extLst>
              <a:ext uri="{FF2B5EF4-FFF2-40B4-BE49-F238E27FC236}">
                <a16:creationId xmlns:a16="http://schemas.microsoft.com/office/drawing/2014/main" id="{EB2CD140-A97A-FEBB-99E4-DB52A355A98C}"/>
              </a:ext>
            </a:extLst>
          </p:cNvPr>
          <p:cNvSpPr>
            <a:spLocks noGrp="1"/>
          </p:cNvSpPr>
          <p:nvPr>
            <p:ph type="sldNum" sz="quarter" idx="5"/>
          </p:nvPr>
        </p:nvSpPr>
        <p:spPr/>
        <p:txBody>
          <a:bodyPr/>
          <a:lstStyle/>
          <a:p>
            <a:fld id="{9E71E098-3EE2-40B9-8783-16883FAEE14A}" type="slidenum">
              <a:rPr lang="nl-NL" smtClean="0"/>
              <a:t>16</a:t>
            </a:fld>
            <a:endParaRPr lang="nl-NL"/>
          </a:p>
        </p:txBody>
      </p:sp>
    </p:spTree>
    <p:extLst>
      <p:ext uri="{BB962C8B-B14F-4D97-AF65-F5344CB8AC3E}">
        <p14:creationId xmlns:p14="http://schemas.microsoft.com/office/powerpoint/2010/main" val="1472052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B49EB-165A-9DCF-F99D-9072C3B08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D027E-1F72-1E72-16F4-0406A7A57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C43CA-CD03-0F7F-1C93-4DD0F60E3390}"/>
              </a:ext>
            </a:extLst>
          </p:cNvPr>
          <p:cNvSpPr>
            <a:spLocks noGrp="1"/>
          </p:cNvSpPr>
          <p:nvPr>
            <p:ph type="body" idx="1"/>
          </p:nvPr>
        </p:nvSpPr>
        <p:spPr/>
        <p:txBody>
          <a:bodyPr/>
          <a:lstStyle/>
          <a:p>
            <a:r>
              <a:rPr lang="en-GB" dirty="0"/>
              <a:t>Compare player 2 between KNN and </a:t>
            </a:r>
            <a:r>
              <a:rPr lang="en-GB" dirty="0" err="1"/>
              <a:t>XGBoost</a:t>
            </a:r>
            <a:r>
              <a:rPr lang="en-GB" dirty="0"/>
              <a:t> for 3,5,10 years</a:t>
            </a:r>
          </a:p>
        </p:txBody>
      </p:sp>
      <p:sp>
        <p:nvSpPr>
          <p:cNvPr id="4" name="Slide Number Placeholder 3">
            <a:extLst>
              <a:ext uri="{FF2B5EF4-FFF2-40B4-BE49-F238E27FC236}">
                <a16:creationId xmlns:a16="http://schemas.microsoft.com/office/drawing/2014/main" id="{AD90FC0E-B657-FE7A-AA38-90B6B6AD59D6}"/>
              </a:ext>
            </a:extLst>
          </p:cNvPr>
          <p:cNvSpPr>
            <a:spLocks noGrp="1"/>
          </p:cNvSpPr>
          <p:nvPr>
            <p:ph type="sldNum" sz="quarter" idx="5"/>
          </p:nvPr>
        </p:nvSpPr>
        <p:spPr/>
        <p:txBody>
          <a:bodyPr/>
          <a:lstStyle/>
          <a:p>
            <a:fld id="{9E71E098-3EE2-40B9-8783-16883FAEE14A}" type="slidenum">
              <a:rPr lang="nl-NL" smtClean="0"/>
              <a:t>17</a:t>
            </a:fld>
            <a:endParaRPr lang="nl-NL"/>
          </a:p>
        </p:txBody>
      </p:sp>
    </p:spTree>
    <p:extLst>
      <p:ext uri="{BB962C8B-B14F-4D97-AF65-F5344CB8AC3E}">
        <p14:creationId xmlns:p14="http://schemas.microsoft.com/office/powerpoint/2010/main" val="3418640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D0AEE-84B1-8159-50EB-1E92B963F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C6118-7F60-FB01-DF13-6181D8CC1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D7F57-1ACC-654F-3C17-83B26623BAD4}"/>
              </a:ext>
            </a:extLst>
          </p:cNvPr>
          <p:cNvSpPr>
            <a:spLocks noGrp="1"/>
          </p:cNvSpPr>
          <p:nvPr>
            <p:ph type="body" idx="1"/>
          </p:nvPr>
        </p:nvSpPr>
        <p:spPr/>
        <p:txBody>
          <a:bodyPr/>
          <a:lstStyle/>
          <a:p>
            <a:r>
              <a:rPr lang="en-GB" dirty="0"/>
              <a:t>Compare player 3 between KNN and </a:t>
            </a:r>
            <a:r>
              <a:rPr lang="en-GB" dirty="0" err="1"/>
              <a:t>XGBoost</a:t>
            </a:r>
            <a:r>
              <a:rPr lang="en-GB" dirty="0"/>
              <a:t> for 3,5,10 years</a:t>
            </a:r>
          </a:p>
        </p:txBody>
      </p:sp>
      <p:sp>
        <p:nvSpPr>
          <p:cNvPr id="4" name="Slide Number Placeholder 3">
            <a:extLst>
              <a:ext uri="{FF2B5EF4-FFF2-40B4-BE49-F238E27FC236}">
                <a16:creationId xmlns:a16="http://schemas.microsoft.com/office/drawing/2014/main" id="{C5B79383-8A3A-4A71-9329-771BFB7A4444}"/>
              </a:ext>
            </a:extLst>
          </p:cNvPr>
          <p:cNvSpPr>
            <a:spLocks noGrp="1"/>
          </p:cNvSpPr>
          <p:nvPr>
            <p:ph type="sldNum" sz="quarter" idx="5"/>
          </p:nvPr>
        </p:nvSpPr>
        <p:spPr/>
        <p:txBody>
          <a:bodyPr/>
          <a:lstStyle/>
          <a:p>
            <a:fld id="{9E71E098-3EE2-40B9-8783-16883FAEE14A}" type="slidenum">
              <a:rPr lang="nl-NL" smtClean="0"/>
              <a:t>18</a:t>
            </a:fld>
            <a:endParaRPr lang="nl-NL"/>
          </a:p>
        </p:txBody>
      </p:sp>
    </p:spTree>
    <p:extLst>
      <p:ext uri="{BB962C8B-B14F-4D97-AF65-F5344CB8AC3E}">
        <p14:creationId xmlns:p14="http://schemas.microsoft.com/office/powerpoint/2010/main" val="1471891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2B149-A271-2009-AECD-6BFA4AA88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CBDCB-65DC-F7C0-FDD0-93CBF02C5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653A8-A258-DC0E-0D08-AC5D9A784033}"/>
              </a:ext>
            </a:extLst>
          </p:cNvPr>
          <p:cNvSpPr>
            <a:spLocks noGrp="1"/>
          </p:cNvSpPr>
          <p:nvPr>
            <p:ph type="body" idx="1"/>
          </p:nvPr>
        </p:nvSpPr>
        <p:spPr/>
        <p:txBody>
          <a:bodyPr/>
          <a:lstStyle/>
          <a:p>
            <a:r>
              <a:rPr lang="en-US" dirty="0"/>
              <a:t>Mention that </a:t>
            </a:r>
            <a:r>
              <a:rPr lang="en-US" dirty="0" err="1"/>
              <a:t>XGBoost</a:t>
            </a:r>
            <a:r>
              <a:rPr lang="en-US" dirty="0"/>
              <a:t> was better due to higher performance for R2 compared to the balanced accuracy of the KNN models.</a:t>
            </a:r>
            <a:endParaRPr lang="en-GB" dirty="0"/>
          </a:p>
        </p:txBody>
      </p:sp>
      <p:sp>
        <p:nvSpPr>
          <p:cNvPr id="4" name="Slide Number Placeholder 3">
            <a:extLst>
              <a:ext uri="{FF2B5EF4-FFF2-40B4-BE49-F238E27FC236}">
                <a16:creationId xmlns:a16="http://schemas.microsoft.com/office/drawing/2014/main" id="{6A52F349-E65F-772D-FFDC-73690927540C}"/>
              </a:ext>
            </a:extLst>
          </p:cNvPr>
          <p:cNvSpPr>
            <a:spLocks noGrp="1"/>
          </p:cNvSpPr>
          <p:nvPr>
            <p:ph type="sldNum" sz="quarter" idx="5"/>
          </p:nvPr>
        </p:nvSpPr>
        <p:spPr/>
        <p:txBody>
          <a:bodyPr/>
          <a:lstStyle/>
          <a:p>
            <a:fld id="{9E71E098-3EE2-40B9-8783-16883FAEE14A}" type="slidenum">
              <a:rPr lang="nl-NL" smtClean="0"/>
              <a:t>19</a:t>
            </a:fld>
            <a:endParaRPr lang="nl-NL"/>
          </a:p>
        </p:txBody>
      </p:sp>
    </p:spTree>
    <p:extLst>
      <p:ext uri="{BB962C8B-B14F-4D97-AF65-F5344CB8AC3E}">
        <p14:creationId xmlns:p14="http://schemas.microsoft.com/office/powerpoint/2010/main" val="4234572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CDF75-A2F1-AD2D-A211-A9ABB3A51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A7956-7141-0F10-9E08-295BFDEA2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2D532-FF03-E188-712F-6D4C5F50B59E}"/>
              </a:ext>
            </a:extLst>
          </p:cNvPr>
          <p:cNvSpPr>
            <a:spLocks noGrp="1"/>
          </p:cNvSpPr>
          <p:nvPr>
            <p:ph type="body" idx="1"/>
          </p:nvPr>
        </p:nvSpPr>
        <p:spPr/>
        <p:txBody>
          <a:bodyPr/>
          <a:lstStyle/>
          <a:p>
            <a:r>
              <a:rPr lang="en-US" dirty="0"/>
              <a:t>Mention how the data and features do not seem to have much of a relationship when plotting them vs the target. especially when using bins. This is probably due to noise. </a:t>
            </a:r>
            <a:br>
              <a:rPr lang="en-US" dirty="0"/>
            </a:br>
            <a:r>
              <a:rPr lang="en-US" dirty="0"/>
              <a:t>Mention the survivorship bias from training on more data (better players play longer). </a:t>
            </a:r>
            <a:br>
              <a:rPr lang="en-US" dirty="0"/>
            </a:br>
            <a:r>
              <a:rPr lang="en-US" dirty="0"/>
              <a:t>Mention the unbalanced nature of the bins for the KNN model, how it was tested with 6 equal bins which yielded one or two percent better accuracy, but that choosing 6 bins in this instance would be vibes based.</a:t>
            </a:r>
            <a:endParaRPr lang="en-GB" dirty="0"/>
          </a:p>
        </p:txBody>
      </p:sp>
      <p:sp>
        <p:nvSpPr>
          <p:cNvPr id="4" name="Slide Number Placeholder 3">
            <a:extLst>
              <a:ext uri="{FF2B5EF4-FFF2-40B4-BE49-F238E27FC236}">
                <a16:creationId xmlns:a16="http://schemas.microsoft.com/office/drawing/2014/main" id="{17C131DD-8BB6-4E41-DD2F-23D9E9458C2E}"/>
              </a:ext>
            </a:extLst>
          </p:cNvPr>
          <p:cNvSpPr>
            <a:spLocks noGrp="1"/>
          </p:cNvSpPr>
          <p:nvPr>
            <p:ph type="sldNum" sz="quarter" idx="5"/>
          </p:nvPr>
        </p:nvSpPr>
        <p:spPr/>
        <p:txBody>
          <a:bodyPr/>
          <a:lstStyle/>
          <a:p>
            <a:fld id="{9E71E098-3EE2-40B9-8783-16883FAEE14A}" type="slidenum">
              <a:rPr lang="nl-NL" smtClean="0"/>
              <a:t>20</a:t>
            </a:fld>
            <a:endParaRPr lang="nl-NL"/>
          </a:p>
        </p:txBody>
      </p:sp>
    </p:spTree>
    <p:extLst>
      <p:ext uri="{BB962C8B-B14F-4D97-AF65-F5344CB8AC3E}">
        <p14:creationId xmlns:p14="http://schemas.microsoft.com/office/powerpoint/2010/main" val="217659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F22B6-4EB7-DFB5-8863-34710CFE51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336D70EE-8CB4-0408-6175-87E6DD648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90663FB7-82E4-4D6A-79A1-D9D18457DFEE}"/>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45DA081A-6F87-77CA-8D92-7B9B8BA14A29}"/>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FB9471DD-FF93-7D3D-1F7D-A81B792EE813}"/>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2389408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B83A-96DD-DE00-A24C-A7D03AC1EC18}"/>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20E2E058-D2FE-0933-8676-3041FB9D88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A87DF8C-C1B7-A8D9-D895-047CBB990C9C}"/>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04C275F9-DAB1-C0CC-505F-1BF43226D39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5AA4FEF4-A065-70E4-11D1-FC77588543A1}"/>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1698412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5DF4-8E22-863B-701A-66397F6A16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4CD580FC-2A0E-D56A-CE37-5C797DB7C9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3C42E3-67EE-195B-0C11-A76CEE06EBC5}"/>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9DF17663-6979-10FE-7DB6-25825386FB65}"/>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6C57F73-FEFD-7617-A395-832CD5D7F577}"/>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3254674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5001E-9733-9947-D9AE-E4382025FE94}"/>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C556060A-5F46-32E9-B340-C674E3E499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DCF1D075-427C-F536-D6C4-ABDE328FE3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E567F761-50B4-BF02-F12E-FB82FD23BECB}"/>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6" name="Footer Placeholder 5">
            <a:extLst>
              <a:ext uri="{FF2B5EF4-FFF2-40B4-BE49-F238E27FC236}">
                <a16:creationId xmlns:a16="http://schemas.microsoft.com/office/drawing/2014/main" id="{E2BCE91D-5F29-84A5-1525-1FED032A763A}"/>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5C08EF7B-091F-74A5-85A1-8E24A72DEB8F}"/>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957555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DB87-E79C-C213-3BCC-75694F69E96A}"/>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4FC1FFF5-4372-3AEF-DCD8-1F78C4822B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32749F-8C49-6310-0E6F-5DFC96FC83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51557824-89C2-EAEC-6BE2-C0852533EB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D22E6A-28CF-FFAA-7E05-1F23F373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00D0D0E0-77C7-0923-8114-9F689F704DA8}"/>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8" name="Footer Placeholder 7">
            <a:extLst>
              <a:ext uri="{FF2B5EF4-FFF2-40B4-BE49-F238E27FC236}">
                <a16:creationId xmlns:a16="http://schemas.microsoft.com/office/drawing/2014/main" id="{D3F572C6-1062-341B-D6F0-062DE0ED3A1B}"/>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D3BEB19D-E38E-5841-AC0A-4F3117603A02}"/>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3352071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D556-3FEE-50FF-8572-6B30EBB892C7}"/>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59FB6310-55A7-1065-DDF9-1CBECF8699A1}"/>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4" name="Footer Placeholder 3">
            <a:extLst>
              <a:ext uri="{FF2B5EF4-FFF2-40B4-BE49-F238E27FC236}">
                <a16:creationId xmlns:a16="http://schemas.microsoft.com/office/drawing/2014/main" id="{6A401D94-2DAE-74FB-469F-D27EFE74AB63}"/>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03125EB0-F313-489B-07F2-928EEDB383EF}"/>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1847969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B25F21-BF8F-EF60-5124-08B1424D1D32}"/>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3" name="Footer Placeholder 2">
            <a:extLst>
              <a:ext uri="{FF2B5EF4-FFF2-40B4-BE49-F238E27FC236}">
                <a16:creationId xmlns:a16="http://schemas.microsoft.com/office/drawing/2014/main" id="{B0D467D7-7C3E-5D3D-4541-9A694E4CE501}"/>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EB90777B-AE1A-D119-3A7E-C2DE4F2EC657}"/>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174349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ED58-F701-E87A-AC96-803047E8AE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6E06B2A1-E8E2-9AB2-9200-9860CD4427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EE169B9E-D49B-580A-65E2-D516A0705F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A827C6-3980-2B7E-A601-F632520ABADE}"/>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6" name="Footer Placeholder 5">
            <a:extLst>
              <a:ext uri="{FF2B5EF4-FFF2-40B4-BE49-F238E27FC236}">
                <a16:creationId xmlns:a16="http://schemas.microsoft.com/office/drawing/2014/main" id="{AC0C9D66-CE50-6EF7-F97C-BC717A8A20C1}"/>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31409399-5500-E74C-EE9C-D43882ECABA7}"/>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353413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2259-92B0-ECA4-6BA4-DD60C2FEC0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406E8540-EAAF-02A1-8A49-1C0D6DF45D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11E4157A-4B50-9E14-5D70-8AED39F5D7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2CCE7-8C4B-04FE-CCEF-973EF6833EE7}"/>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6" name="Footer Placeholder 5">
            <a:extLst>
              <a:ext uri="{FF2B5EF4-FFF2-40B4-BE49-F238E27FC236}">
                <a16:creationId xmlns:a16="http://schemas.microsoft.com/office/drawing/2014/main" id="{D62F119B-FA60-B72C-8111-57D079D36F12}"/>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E65927B1-00C0-5384-DEAA-C560A6098F22}"/>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21115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DABD-E48B-EB3C-C5BF-5FF7F2B08C17}"/>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2C75BF7-46DB-F7C8-67AA-6658A869E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C2218DCD-ADDB-8E72-97EC-36A83B701869}"/>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0417A798-85E0-5DBC-6DDF-23F02509F06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9A76785B-74F2-7054-3D01-783991B253F4}"/>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1071724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6CEE16-652D-7F7D-7E3B-6443975565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E6B822CE-7025-A563-D16C-12F091F9B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CC991EB-D628-52A9-08F4-9AE18FCDF6CB}"/>
              </a:ext>
            </a:extLst>
          </p:cNvPr>
          <p:cNvSpPr>
            <a:spLocks noGrp="1"/>
          </p:cNvSpPr>
          <p:nvPr>
            <p:ph type="dt" sz="half" idx="10"/>
          </p:nvPr>
        </p:nvSpPr>
        <p:spPr/>
        <p:txBody>
          <a:body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93AE1F57-0DD7-0908-C1C2-AA2EEC78C5D1}"/>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87078440-7C57-022B-830D-7F085359A1C0}"/>
              </a:ext>
            </a:extLst>
          </p:cNvPr>
          <p:cNvSpPr>
            <a:spLocks noGrp="1"/>
          </p:cNvSpPr>
          <p:nvPr>
            <p:ph type="sldNum" sz="quarter" idx="12"/>
          </p:nvPr>
        </p:nvSpPr>
        <p:spPr/>
        <p:txBody>
          <a:bodyPr/>
          <a:lstStyle/>
          <a:p>
            <a:fld id="{855FBF32-4B54-4215-886C-D25F00A93EBA}" type="slidenum">
              <a:rPr lang="nl-NL" smtClean="0"/>
              <a:t>‹#›</a:t>
            </a:fld>
            <a:endParaRPr lang="nl-NL"/>
          </a:p>
        </p:txBody>
      </p:sp>
    </p:spTree>
    <p:extLst>
      <p:ext uri="{BB962C8B-B14F-4D97-AF65-F5344CB8AC3E}">
        <p14:creationId xmlns:p14="http://schemas.microsoft.com/office/powerpoint/2010/main" val="1294083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3C04F-5A1E-A57C-F150-CC0F848A2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E2609030-8594-486C-ECB2-C792AD7537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EC02D5B5-63E5-8C1A-1190-1F1D3AA0C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957FC1-0C95-48E9-BD4D-D51A2D214BAB}" type="datetimeFigureOut">
              <a:rPr lang="nl-NL" smtClean="0"/>
              <a:t>27-1-2026</a:t>
            </a:fld>
            <a:endParaRPr lang="nl-NL"/>
          </a:p>
        </p:txBody>
      </p:sp>
      <p:sp>
        <p:nvSpPr>
          <p:cNvPr id="5" name="Footer Placeholder 4">
            <a:extLst>
              <a:ext uri="{FF2B5EF4-FFF2-40B4-BE49-F238E27FC236}">
                <a16:creationId xmlns:a16="http://schemas.microsoft.com/office/drawing/2014/main" id="{290FDD94-B00F-B953-E848-DA1538E92F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23C30FB3-E3CD-0808-DB2C-E958D31938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5FBF32-4B54-4215-886C-D25F00A93EBA}" type="slidenum">
              <a:rPr lang="nl-NL" smtClean="0"/>
              <a:t>‹#›</a:t>
            </a:fld>
            <a:endParaRPr lang="nl-NL"/>
          </a:p>
        </p:txBody>
      </p:sp>
    </p:spTree>
    <p:extLst>
      <p:ext uri="{BB962C8B-B14F-4D97-AF65-F5344CB8AC3E}">
        <p14:creationId xmlns:p14="http://schemas.microsoft.com/office/powerpoint/2010/main" val="3026486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05A5-F7C2-4AB0-6A3E-B6ADC32DACAF}"/>
              </a:ext>
            </a:extLst>
          </p:cNvPr>
          <p:cNvSpPr>
            <a:spLocks noGrp="1"/>
          </p:cNvSpPr>
          <p:nvPr>
            <p:ph type="ctrTitle"/>
          </p:nvPr>
        </p:nvSpPr>
        <p:spPr/>
        <p:txBody>
          <a:bodyPr/>
          <a:lstStyle/>
          <a:p>
            <a:r>
              <a:rPr lang="en-GB" dirty="0"/>
              <a:t>Group 2</a:t>
            </a:r>
            <a:endParaRPr lang="nl-NL" dirty="0"/>
          </a:p>
        </p:txBody>
      </p:sp>
      <p:sp>
        <p:nvSpPr>
          <p:cNvPr id="3" name="Subtitle 2">
            <a:extLst>
              <a:ext uri="{FF2B5EF4-FFF2-40B4-BE49-F238E27FC236}">
                <a16:creationId xmlns:a16="http://schemas.microsoft.com/office/drawing/2014/main" id="{AED101AE-A976-6F97-914C-9DBE2CE1AF89}"/>
              </a:ext>
            </a:extLst>
          </p:cNvPr>
          <p:cNvSpPr>
            <a:spLocks noGrp="1"/>
          </p:cNvSpPr>
          <p:nvPr>
            <p:ph type="subTitle" idx="1"/>
          </p:nvPr>
        </p:nvSpPr>
        <p:spPr>
          <a:xfrm>
            <a:off x="1524000" y="3602037"/>
            <a:ext cx="9144000" cy="1391203"/>
          </a:xfrm>
        </p:spPr>
        <p:txBody>
          <a:bodyPr>
            <a:normAutofit/>
          </a:bodyPr>
          <a:lstStyle/>
          <a:p>
            <a:r>
              <a:rPr lang="en-GB" sz="3000" dirty="0"/>
              <a:t>Final presentation: Tennis</a:t>
            </a:r>
          </a:p>
          <a:p>
            <a:r>
              <a:rPr lang="nl-NL" sz="2000" dirty="0"/>
              <a:t>Jordan Goedbloed | </a:t>
            </a:r>
            <a:r>
              <a:rPr lang="nl-NL" sz="2000" dirty="0" err="1"/>
              <a:t>Arman</a:t>
            </a:r>
            <a:r>
              <a:rPr lang="nl-NL" sz="2000" dirty="0"/>
              <a:t> </a:t>
            </a:r>
            <a:r>
              <a:rPr lang="nl-NL" sz="2000" dirty="0" err="1"/>
              <a:t>Torabi</a:t>
            </a:r>
            <a:r>
              <a:rPr lang="nl-NL" sz="2000" dirty="0"/>
              <a:t> | Golbert Ceita Pagês  </a:t>
            </a:r>
            <a:endParaRPr lang="nl-NL" sz="2000" dirty="0">
              <a:effectLst/>
            </a:endParaRPr>
          </a:p>
          <a:p>
            <a:r>
              <a:rPr lang="nl-NL" sz="2000" dirty="0"/>
              <a:t>Jesse de Zeeuw | Viggo van der Ven</a:t>
            </a:r>
            <a:endParaRPr lang="nl-NL" sz="2000" dirty="0">
              <a:effectLst/>
            </a:endParaRPr>
          </a:p>
        </p:txBody>
      </p:sp>
      <p:pic>
        <p:nvPicPr>
          <p:cNvPr id="5" name="Graphic 4" descr="Tennis racket and ball outline">
            <a:extLst>
              <a:ext uri="{FF2B5EF4-FFF2-40B4-BE49-F238E27FC236}">
                <a16:creationId xmlns:a16="http://schemas.microsoft.com/office/drawing/2014/main" id="{567A1609-D3F1-E2FA-93CD-EF58FF8B34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1275" y="4880912"/>
            <a:ext cx="1709450" cy="1709450"/>
          </a:xfrm>
          <a:prstGeom prst="rect">
            <a:avLst/>
          </a:prstGeom>
        </p:spPr>
      </p:pic>
    </p:spTree>
    <p:extLst>
      <p:ext uri="{BB962C8B-B14F-4D97-AF65-F5344CB8AC3E}">
        <p14:creationId xmlns:p14="http://schemas.microsoft.com/office/powerpoint/2010/main" val="1069191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51C16-B92A-99D5-CDA1-FF3547079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8730F-3C00-3B82-8DCB-C2946B0D44F0}"/>
              </a:ext>
            </a:extLst>
          </p:cNvPr>
          <p:cNvSpPr>
            <a:spLocks noGrp="1"/>
          </p:cNvSpPr>
          <p:nvPr>
            <p:ph type="title"/>
          </p:nvPr>
        </p:nvSpPr>
        <p:spPr/>
        <p:txBody>
          <a:bodyPr/>
          <a:lstStyle/>
          <a:p>
            <a:r>
              <a:rPr lang="en-GB" dirty="0"/>
              <a:t>Table of Contents</a:t>
            </a:r>
            <a:endParaRPr lang="nl-NL" dirty="0"/>
          </a:p>
        </p:txBody>
      </p:sp>
      <p:sp>
        <p:nvSpPr>
          <p:cNvPr id="4" name="Content Placeholder 3">
            <a:extLst>
              <a:ext uri="{FF2B5EF4-FFF2-40B4-BE49-F238E27FC236}">
                <a16:creationId xmlns:a16="http://schemas.microsoft.com/office/drawing/2014/main" id="{BF8D1BAA-6DB4-BF08-3F44-DACB24B97212}"/>
              </a:ext>
            </a:extLst>
          </p:cNvPr>
          <p:cNvSpPr>
            <a:spLocks noGrp="1"/>
          </p:cNvSpPr>
          <p:nvPr>
            <p:ph idx="1"/>
          </p:nvPr>
        </p:nvSpPr>
        <p:spPr/>
        <p:txBody>
          <a:bodyPr>
            <a:normAutofit fontScale="62500" lnSpcReduction="20000"/>
          </a:bodyPr>
          <a:lstStyle/>
          <a:p>
            <a:pPr marL="514350" indent="-514350">
              <a:buFont typeface="+mj-lt"/>
              <a:buAutoNum type="arabicPeriod"/>
            </a:pPr>
            <a:r>
              <a:rPr lang="en-GB" dirty="0"/>
              <a:t>The business value</a:t>
            </a:r>
          </a:p>
          <a:p>
            <a:pPr marL="514350" indent="-514350">
              <a:buFont typeface="+mj-lt"/>
              <a:buAutoNum type="arabicPeriod"/>
            </a:pPr>
            <a:r>
              <a:rPr lang="en-GB" dirty="0"/>
              <a:t>Dataset</a:t>
            </a:r>
          </a:p>
          <a:p>
            <a:pPr marL="514350" indent="-514350">
              <a:buFont typeface="+mj-lt"/>
              <a:buAutoNum type="arabicPeriod"/>
            </a:pPr>
            <a:r>
              <a:rPr lang="en-GB" dirty="0"/>
              <a:t>Preprocessing</a:t>
            </a:r>
          </a:p>
          <a:p>
            <a:pPr marL="514350" indent="-514350">
              <a:buFont typeface="+mj-lt"/>
              <a:buAutoNum type="arabicPeriod"/>
            </a:pPr>
            <a:r>
              <a:rPr lang="en-GB" dirty="0"/>
              <a:t>KNN</a:t>
            </a:r>
          </a:p>
          <a:p>
            <a:pPr marL="971550" lvl="1" indent="-514350">
              <a:buFont typeface="+mj-lt"/>
              <a:buAutoNum type="arabicPeriod"/>
            </a:pPr>
            <a:r>
              <a:rPr lang="en-GB" dirty="0"/>
              <a:t>Benefits and Downsides</a:t>
            </a:r>
          </a:p>
          <a:p>
            <a:pPr marL="971550" lvl="1" indent="-514350">
              <a:buFont typeface="+mj-lt"/>
              <a:buAutoNum type="arabicPeriod"/>
            </a:pPr>
            <a:r>
              <a:rPr lang="en-GB" dirty="0"/>
              <a:t>Training</a:t>
            </a:r>
          </a:p>
          <a:p>
            <a:pPr marL="514350" indent="-514350">
              <a:buFont typeface="+mj-lt"/>
              <a:buAutoNum type="arabicPeriod"/>
            </a:pPr>
            <a:r>
              <a:rPr lang="en-GB" dirty="0" err="1"/>
              <a:t>XGBoost</a:t>
            </a:r>
            <a:endParaRPr lang="en-GB" dirty="0"/>
          </a:p>
          <a:p>
            <a:pPr marL="971550" lvl="1" indent="-514350">
              <a:buFont typeface="+mj-lt"/>
              <a:buAutoNum type="arabicPeriod"/>
            </a:pPr>
            <a:r>
              <a:rPr lang="en-GB" dirty="0"/>
              <a:t>Benefits and Downsides</a:t>
            </a:r>
          </a:p>
          <a:p>
            <a:pPr marL="971550" lvl="1" indent="-514350">
              <a:buFont typeface="+mj-lt"/>
              <a:buAutoNum type="arabicPeriod"/>
            </a:pPr>
            <a:r>
              <a:rPr lang="en-GB" dirty="0"/>
              <a:t>Training</a:t>
            </a:r>
          </a:p>
          <a:p>
            <a:pPr marL="514350" indent="-514350">
              <a:buFont typeface="+mj-lt"/>
              <a:buAutoNum type="arabicPeriod"/>
            </a:pPr>
            <a:r>
              <a:rPr lang="en-GB" dirty="0"/>
              <a:t>Results</a:t>
            </a:r>
          </a:p>
          <a:p>
            <a:pPr marL="971550" lvl="1" indent="-514350">
              <a:buFont typeface="+mj-lt"/>
              <a:buAutoNum type="arabicPeriod"/>
            </a:pPr>
            <a:r>
              <a:rPr lang="en-GB" dirty="0"/>
              <a:t>KNN</a:t>
            </a:r>
          </a:p>
          <a:p>
            <a:pPr marL="971550" lvl="1" indent="-514350">
              <a:buFont typeface="+mj-lt"/>
              <a:buAutoNum type="arabicPeriod"/>
            </a:pPr>
            <a:r>
              <a:rPr lang="en-GB" dirty="0" err="1"/>
              <a:t>XGBoost</a:t>
            </a:r>
            <a:endParaRPr lang="en-GB" dirty="0"/>
          </a:p>
          <a:p>
            <a:pPr marL="971550" lvl="1" indent="-514350">
              <a:buFont typeface="+mj-lt"/>
              <a:buAutoNum type="arabicPeriod"/>
            </a:pPr>
            <a:r>
              <a:rPr lang="en-GB" dirty="0"/>
              <a:t>Per player comparisons</a:t>
            </a:r>
          </a:p>
          <a:p>
            <a:pPr marL="514350" indent="-514350">
              <a:buFont typeface="+mj-lt"/>
              <a:buAutoNum type="arabicPeriod"/>
            </a:pPr>
            <a:r>
              <a:rPr lang="en-GB" dirty="0" err="1"/>
              <a:t>Conculsion</a:t>
            </a:r>
            <a:endParaRPr lang="en-GB" dirty="0"/>
          </a:p>
          <a:p>
            <a:pPr marL="514350" indent="-514350">
              <a:buFont typeface="+mj-lt"/>
              <a:buAutoNum type="arabicPeriod"/>
            </a:pPr>
            <a:r>
              <a:rPr lang="en-GB" dirty="0"/>
              <a:t>Recommendations</a:t>
            </a:r>
          </a:p>
          <a:p>
            <a:pPr marL="514350" indent="-514350">
              <a:buFont typeface="+mj-lt"/>
              <a:buAutoNum type="arabicPeriod"/>
            </a:pPr>
            <a:endParaRPr lang="en-GB" dirty="0"/>
          </a:p>
        </p:txBody>
      </p:sp>
    </p:spTree>
    <p:extLst>
      <p:ext uri="{BB962C8B-B14F-4D97-AF65-F5344CB8AC3E}">
        <p14:creationId xmlns:p14="http://schemas.microsoft.com/office/powerpoint/2010/main" val="383086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0123-38A4-F48C-F0CA-4B554E4814ED}"/>
              </a:ext>
            </a:extLst>
          </p:cNvPr>
          <p:cNvSpPr>
            <a:spLocks noGrp="1"/>
          </p:cNvSpPr>
          <p:nvPr>
            <p:ph type="title"/>
          </p:nvPr>
        </p:nvSpPr>
        <p:spPr/>
        <p:txBody>
          <a:bodyPr/>
          <a:lstStyle/>
          <a:p>
            <a:r>
              <a:rPr lang="en-GB" dirty="0"/>
              <a:t>The business value</a:t>
            </a:r>
            <a:endParaRPr lang="nl-NL" dirty="0"/>
          </a:p>
        </p:txBody>
      </p:sp>
      <p:sp>
        <p:nvSpPr>
          <p:cNvPr id="4" name="Content Placeholder 3">
            <a:extLst>
              <a:ext uri="{FF2B5EF4-FFF2-40B4-BE49-F238E27FC236}">
                <a16:creationId xmlns:a16="http://schemas.microsoft.com/office/drawing/2014/main" id="{6550DD35-FA9D-3961-98FF-232FB723940C}"/>
              </a:ext>
            </a:extLst>
          </p:cNvPr>
          <p:cNvSpPr>
            <a:spLocks noGrp="1"/>
          </p:cNvSpPr>
          <p:nvPr>
            <p:ph sz="half" idx="1"/>
          </p:nvPr>
        </p:nvSpPr>
        <p:spPr/>
        <p:txBody>
          <a:bodyPr/>
          <a:lstStyle/>
          <a:p>
            <a:r>
              <a:rPr lang="en-GB" dirty="0"/>
              <a:t>Predicting the peak ELO of a player; how good will a player be in the future.</a:t>
            </a:r>
            <a:endParaRPr lang="nl-NL" dirty="0"/>
          </a:p>
        </p:txBody>
      </p:sp>
      <p:pic>
        <p:nvPicPr>
          <p:cNvPr id="7" name="Content Placeholder 6">
            <a:extLst>
              <a:ext uri="{FF2B5EF4-FFF2-40B4-BE49-F238E27FC236}">
                <a16:creationId xmlns:a16="http://schemas.microsoft.com/office/drawing/2014/main" id="{C9E3C495-B12B-E360-9615-A7A787362692}"/>
              </a:ext>
            </a:extLst>
          </p:cNvPr>
          <p:cNvPicPr>
            <a:picLocks noGrp="1" noChangeAspect="1"/>
          </p:cNvPicPr>
          <p:nvPr>
            <p:ph sz="half" idx="2"/>
          </p:nvPr>
        </p:nvPicPr>
        <p:blipFill>
          <a:blip r:embed="rId3"/>
          <a:stretch>
            <a:fillRect/>
          </a:stretch>
        </p:blipFill>
        <p:spPr>
          <a:xfrm>
            <a:off x="6172200" y="2457282"/>
            <a:ext cx="5181600" cy="3088024"/>
          </a:xfrm>
          <a:prstGeom prst="rect">
            <a:avLst/>
          </a:prstGeom>
        </p:spPr>
      </p:pic>
    </p:spTree>
    <p:extLst>
      <p:ext uri="{BB962C8B-B14F-4D97-AF65-F5344CB8AC3E}">
        <p14:creationId xmlns:p14="http://schemas.microsoft.com/office/powerpoint/2010/main" val="3228044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841F2-84B3-3336-4E11-7FA0ECB56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0452-2E05-5ABB-94BD-E17BC99F2B59}"/>
              </a:ext>
            </a:extLst>
          </p:cNvPr>
          <p:cNvSpPr>
            <a:spLocks noGrp="1"/>
          </p:cNvSpPr>
          <p:nvPr>
            <p:ph type="title"/>
          </p:nvPr>
        </p:nvSpPr>
        <p:spPr/>
        <p:txBody>
          <a:bodyPr/>
          <a:lstStyle/>
          <a:p>
            <a:r>
              <a:rPr lang="en-GB" dirty="0"/>
              <a:t>Dataset</a:t>
            </a:r>
            <a:endParaRPr lang="nl-NL" dirty="0"/>
          </a:p>
        </p:txBody>
      </p:sp>
      <p:sp>
        <p:nvSpPr>
          <p:cNvPr id="3" name="Content Placeholder 2">
            <a:extLst>
              <a:ext uri="{FF2B5EF4-FFF2-40B4-BE49-F238E27FC236}">
                <a16:creationId xmlns:a16="http://schemas.microsoft.com/office/drawing/2014/main" id="{E1FE026E-48F1-FF4F-8CA6-3275065BCFB5}"/>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2593850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5407A-11D4-B82A-94AF-17E3896A5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8AAAE6-D6C8-B53E-DF13-ECA580C98A06}"/>
              </a:ext>
            </a:extLst>
          </p:cNvPr>
          <p:cNvSpPr>
            <a:spLocks noGrp="1"/>
          </p:cNvSpPr>
          <p:nvPr>
            <p:ph type="title"/>
          </p:nvPr>
        </p:nvSpPr>
        <p:spPr/>
        <p:txBody>
          <a:bodyPr/>
          <a:lstStyle/>
          <a:p>
            <a:r>
              <a:rPr lang="en-GB" dirty="0"/>
              <a:t>KNN</a:t>
            </a:r>
            <a:endParaRPr lang="nl-NL" dirty="0"/>
          </a:p>
        </p:txBody>
      </p:sp>
      <p:sp>
        <p:nvSpPr>
          <p:cNvPr id="3" name="Content Placeholder 2">
            <a:extLst>
              <a:ext uri="{FF2B5EF4-FFF2-40B4-BE49-F238E27FC236}">
                <a16:creationId xmlns:a16="http://schemas.microsoft.com/office/drawing/2014/main" id="{3A84B5E8-C502-00B5-ED15-0630D04D6FF3}"/>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71472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690A5-F816-AFC3-90F4-B38F12C14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AAB39-68AC-728E-D1EA-F1AB23C9D0E9}"/>
              </a:ext>
            </a:extLst>
          </p:cNvPr>
          <p:cNvSpPr>
            <a:spLocks noGrp="1"/>
          </p:cNvSpPr>
          <p:nvPr>
            <p:ph type="title"/>
          </p:nvPr>
        </p:nvSpPr>
        <p:spPr/>
        <p:txBody>
          <a:bodyPr/>
          <a:lstStyle/>
          <a:p>
            <a:r>
              <a:rPr lang="en-GB" dirty="0"/>
              <a:t>KNN</a:t>
            </a:r>
            <a:endParaRPr lang="nl-NL" dirty="0"/>
          </a:p>
        </p:txBody>
      </p:sp>
      <p:sp>
        <p:nvSpPr>
          <p:cNvPr id="3" name="Content Placeholder 2">
            <a:extLst>
              <a:ext uri="{FF2B5EF4-FFF2-40B4-BE49-F238E27FC236}">
                <a16:creationId xmlns:a16="http://schemas.microsoft.com/office/drawing/2014/main" id="{D048B473-E9C1-910E-6F51-2F440625CAB7}"/>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4114900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2DD09-9FF1-BAED-5983-93EF28C58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E8385-7E89-A8D5-DDF4-488067E8B851}"/>
              </a:ext>
            </a:extLst>
          </p:cNvPr>
          <p:cNvSpPr>
            <a:spLocks noGrp="1"/>
          </p:cNvSpPr>
          <p:nvPr>
            <p:ph type="title"/>
          </p:nvPr>
        </p:nvSpPr>
        <p:spPr/>
        <p:txBody>
          <a:bodyPr/>
          <a:lstStyle/>
          <a:p>
            <a:r>
              <a:rPr lang="en-GB" dirty="0"/>
              <a:t>KNN</a:t>
            </a:r>
            <a:endParaRPr lang="nl-NL" dirty="0"/>
          </a:p>
        </p:txBody>
      </p:sp>
      <p:sp>
        <p:nvSpPr>
          <p:cNvPr id="4" name="Content Placeholder 3">
            <a:extLst>
              <a:ext uri="{FF2B5EF4-FFF2-40B4-BE49-F238E27FC236}">
                <a16:creationId xmlns:a16="http://schemas.microsoft.com/office/drawing/2014/main" id="{91DBE151-464D-410D-59CF-D1EE0693A216}"/>
              </a:ext>
            </a:extLst>
          </p:cNvPr>
          <p:cNvSpPr>
            <a:spLocks noGrp="1"/>
          </p:cNvSpPr>
          <p:nvPr>
            <p:ph sz="half" idx="1"/>
          </p:nvPr>
        </p:nvSpPr>
        <p:spPr>
          <a:xfrm>
            <a:off x="838200" y="1825625"/>
            <a:ext cx="5181600" cy="1603375"/>
          </a:xfrm>
        </p:spPr>
        <p:txBody>
          <a:bodyPr>
            <a:normAutofit/>
          </a:bodyPr>
          <a:lstStyle/>
          <a:p>
            <a:r>
              <a:rPr lang="en-GB" noProof="0" dirty="0"/>
              <a:t>Six bins created by iteratively splitting on the median value to create a hierarchy</a:t>
            </a:r>
          </a:p>
        </p:txBody>
      </p:sp>
      <p:pic>
        <p:nvPicPr>
          <p:cNvPr id="7" name="Content Placeholder 6">
            <a:extLst>
              <a:ext uri="{FF2B5EF4-FFF2-40B4-BE49-F238E27FC236}">
                <a16:creationId xmlns:a16="http://schemas.microsoft.com/office/drawing/2014/main" id="{5DB908F4-7A92-30FE-DC1A-E09AEAC8EC74}"/>
              </a:ext>
            </a:extLst>
          </p:cNvPr>
          <p:cNvPicPr>
            <a:picLocks noGrp="1" noChangeAspect="1"/>
          </p:cNvPicPr>
          <p:nvPr>
            <p:ph sz="half" idx="2"/>
          </p:nvPr>
        </p:nvPicPr>
        <p:blipFill>
          <a:blip r:embed="rId3"/>
          <a:stretch>
            <a:fillRect/>
          </a:stretch>
        </p:blipFill>
        <p:spPr>
          <a:xfrm>
            <a:off x="6243637" y="1929606"/>
            <a:ext cx="5038725" cy="4143375"/>
          </a:xfrm>
          <a:prstGeom prst="rect">
            <a:avLst/>
          </a:prstGeom>
        </p:spPr>
      </p:pic>
      <p:graphicFrame>
        <p:nvGraphicFramePr>
          <p:cNvPr id="9" name="Table 8">
            <a:extLst>
              <a:ext uri="{FF2B5EF4-FFF2-40B4-BE49-F238E27FC236}">
                <a16:creationId xmlns:a16="http://schemas.microsoft.com/office/drawing/2014/main" id="{DCBB0B75-CCA9-0FB2-DB1E-3200A2CF4716}"/>
              </a:ext>
            </a:extLst>
          </p:cNvPr>
          <p:cNvGraphicFramePr>
            <a:graphicFrameLocks noGrp="1"/>
          </p:cNvGraphicFramePr>
          <p:nvPr>
            <p:extLst>
              <p:ext uri="{D42A27DB-BD31-4B8C-83A1-F6EECF244321}">
                <p14:modId xmlns:p14="http://schemas.microsoft.com/office/powerpoint/2010/main" val="820563635"/>
              </p:ext>
            </p:extLst>
          </p:nvPr>
        </p:nvGraphicFramePr>
        <p:xfrm>
          <a:off x="838200" y="3563937"/>
          <a:ext cx="5181600" cy="2509045"/>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4007472829"/>
                    </a:ext>
                  </a:extLst>
                </a:gridCol>
                <a:gridCol w="2590800">
                  <a:extLst>
                    <a:ext uri="{9D8B030D-6E8A-4147-A177-3AD203B41FA5}">
                      <a16:colId xmlns:a16="http://schemas.microsoft.com/office/drawing/2014/main" val="1894023521"/>
                    </a:ext>
                  </a:extLst>
                </a:gridCol>
              </a:tblGrid>
              <a:tr h="358435">
                <a:tc>
                  <a:txBody>
                    <a:bodyPr/>
                    <a:lstStyle/>
                    <a:p>
                      <a:r>
                        <a:rPr lang="en-GB" sz="1400" dirty="0"/>
                        <a:t>Bin Ranges</a:t>
                      </a:r>
                      <a:endParaRPr lang="nl-NL" sz="1400" dirty="0"/>
                    </a:p>
                  </a:txBody>
                  <a:tcPr/>
                </a:tc>
                <a:tc>
                  <a:txBody>
                    <a:bodyPr/>
                    <a:lstStyle/>
                    <a:p>
                      <a:r>
                        <a:rPr lang="en-GB" sz="1400" dirty="0"/>
                        <a:t>Percentage of players</a:t>
                      </a:r>
                      <a:endParaRPr lang="nl-NL" sz="1400" dirty="0"/>
                    </a:p>
                  </a:txBody>
                  <a:tcPr/>
                </a:tc>
                <a:extLst>
                  <a:ext uri="{0D108BD9-81ED-4DB2-BD59-A6C34878D82A}">
                    <a16:rowId xmlns:a16="http://schemas.microsoft.com/office/drawing/2014/main" val="1652476165"/>
                  </a:ext>
                </a:extLst>
              </a:tr>
              <a:tr h="358435">
                <a:tc>
                  <a:txBody>
                    <a:bodyPr/>
                    <a:lstStyle/>
                    <a:p>
                      <a:r>
                        <a:rPr lang="en-GB" sz="1400" dirty="0"/>
                        <a:t>0 – 1878</a:t>
                      </a:r>
                      <a:endParaRPr lang="nl-NL" sz="1400" dirty="0"/>
                    </a:p>
                  </a:txBody>
                  <a:tcPr/>
                </a:tc>
                <a:tc>
                  <a:txBody>
                    <a:bodyPr/>
                    <a:lstStyle/>
                    <a:p>
                      <a:r>
                        <a:rPr lang="en-GB" sz="1400" dirty="0"/>
                        <a:t>50%</a:t>
                      </a:r>
                      <a:endParaRPr lang="nl-NL" sz="1400" dirty="0"/>
                    </a:p>
                  </a:txBody>
                  <a:tcPr/>
                </a:tc>
                <a:extLst>
                  <a:ext uri="{0D108BD9-81ED-4DB2-BD59-A6C34878D82A}">
                    <a16:rowId xmlns:a16="http://schemas.microsoft.com/office/drawing/2014/main" val="3018237421"/>
                  </a:ext>
                </a:extLst>
              </a:tr>
              <a:tr h="358435">
                <a:tc>
                  <a:txBody>
                    <a:bodyPr/>
                    <a:lstStyle/>
                    <a:p>
                      <a:r>
                        <a:rPr lang="en-GB" sz="1400" dirty="0"/>
                        <a:t>1878 – 2082</a:t>
                      </a:r>
                      <a:endParaRPr lang="nl-NL" sz="1400" dirty="0"/>
                    </a:p>
                  </a:txBody>
                  <a:tcPr/>
                </a:tc>
                <a:tc>
                  <a:txBody>
                    <a:bodyPr/>
                    <a:lstStyle/>
                    <a:p>
                      <a:r>
                        <a:rPr lang="en-GB" sz="1400" dirty="0"/>
                        <a:t>25%</a:t>
                      </a:r>
                      <a:endParaRPr lang="nl-NL" sz="1400" dirty="0"/>
                    </a:p>
                  </a:txBody>
                  <a:tcPr/>
                </a:tc>
                <a:extLst>
                  <a:ext uri="{0D108BD9-81ED-4DB2-BD59-A6C34878D82A}">
                    <a16:rowId xmlns:a16="http://schemas.microsoft.com/office/drawing/2014/main" val="751840286"/>
                  </a:ext>
                </a:extLst>
              </a:tr>
              <a:tr h="358435">
                <a:tc>
                  <a:txBody>
                    <a:bodyPr/>
                    <a:lstStyle/>
                    <a:p>
                      <a:r>
                        <a:rPr lang="en-GB" sz="1400" dirty="0"/>
                        <a:t>2082 – 2245</a:t>
                      </a:r>
                      <a:endParaRPr lang="nl-NL" sz="1400" dirty="0"/>
                    </a:p>
                  </a:txBody>
                  <a:tcPr/>
                </a:tc>
                <a:tc>
                  <a:txBody>
                    <a:bodyPr/>
                    <a:lstStyle/>
                    <a:p>
                      <a:r>
                        <a:rPr lang="en-GB" sz="1400" dirty="0"/>
                        <a:t>12.5%</a:t>
                      </a:r>
                      <a:endParaRPr lang="nl-NL" sz="1400" dirty="0"/>
                    </a:p>
                  </a:txBody>
                  <a:tcPr/>
                </a:tc>
                <a:extLst>
                  <a:ext uri="{0D108BD9-81ED-4DB2-BD59-A6C34878D82A}">
                    <a16:rowId xmlns:a16="http://schemas.microsoft.com/office/drawing/2014/main" val="2729563003"/>
                  </a:ext>
                </a:extLst>
              </a:tr>
              <a:tr h="358435">
                <a:tc>
                  <a:txBody>
                    <a:bodyPr/>
                    <a:lstStyle/>
                    <a:p>
                      <a:r>
                        <a:rPr lang="en-GB" sz="1400" dirty="0"/>
                        <a:t>2245 – 2355</a:t>
                      </a:r>
                      <a:endParaRPr lang="nl-NL" sz="1400" dirty="0"/>
                    </a:p>
                  </a:txBody>
                  <a:tcPr/>
                </a:tc>
                <a:tc>
                  <a:txBody>
                    <a:bodyPr/>
                    <a:lstStyle/>
                    <a:p>
                      <a:r>
                        <a:rPr lang="en-GB" sz="1400" dirty="0"/>
                        <a:t>6.2%</a:t>
                      </a:r>
                      <a:endParaRPr lang="nl-NL" sz="1400" dirty="0"/>
                    </a:p>
                  </a:txBody>
                  <a:tcPr/>
                </a:tc>
                <a:extLst>
                  <a:ext uri="{0D108BD9-81ED-4DB2-BD59-A6C34878D82A}">
                    <a16:rowId xmlns:a16="http://schemas.microsoft.com/office/drawing/2014/main" val="2340816486"/>
                  </a:ext>
                </a:extLst>
              </a:tr>
              <a:tr h="358435">
                <a:tc>
                  <a:txBody>
                    <a:bodyPr/>
                    <a:lstStyle/>
                    <a:p>
                      <a:r>
                        <a:rPr lang="en-GB" sz="1400" dirty="0"/>
                        <a:t>2355 – 2454</a:t>
                      </a:r>
                      <a:endParaRPr lang="nl-NL" sz="1400" dirty="0"/>
                    </a:p>
                  </a:txBody>
                  <a:tcPr/>
                </a:tc>
                <a:tc>
                  <a:txBody>
                    <a:bodyPr/>
                    <a:lstStyle/>
                    <a:p>
                      <a:r>
                        <a:rPr lang="en-GB" sz="1400" dirty="0"/>
                        <a:t>3.1%</a:t>
                      </a:r>
                      <a:endParaRPr lang="nl-NL" sz="1400" dirty="0"/>
                    </a:p>
                  </a:txBody>
                  <a:tcPr/>
                </a:tc>
                <a:extLst>
                  <a:ext uri="{0D108BD9-81ED-4DB2-BD59-A6C34878D82A}">
                    <a16:rowId xmlns:a16="http://schemas.microsoft.com/office/drawing/2014/main" val="3406696910"/>
                  </a:ext>
                </a:extLst>
              </a:tr>
              <a:tr h="358435">
                <a:tc>
                  <a:txBody>
                    <a:bodyPr/>
                    <a:lstStyle/>
                    <a:p>
                      <a:r>
                        <a:rPr lang="en-GB" sz="1400" dirty="0"/>
                        <a:t>2454+</a:t>
                      </a:r>
                      <a:endParaRPr lang="nl-NL" sz="1400" dirty="0"/>
                    </a:p>
                  </a:txBody>
                  <a:tcPr/>
                </a:tc>
                <a:tc>
                  <a:txBody>
                    <a:bodyPr/>
                    <a:lstStyle/>
                    <a:p>
                      <a:r>
                        <a:rPr lang="en-GB" sz="1400" dirty="0"/>
                        <a:t>3.2%</a:t>
                      </a:r>
                      <a:endParaRPr lang="nl-NL" sz="1400" dirty="0"/>
                    </a:p>
                  </a:txBody>
                  <a:tcPr/>
                </a:tc>
                <a:extLst>
                  <a:ext uri="{0D108BD9-81ED-4DB2-BD59-A6C34878D82A}">
                    <a16:rowId xmlns:a16="http://schemas.microsoft.com/office/drawing/2014/main" val="4030460181"/>
                  </a:ext>
                </a:extLst>
              </a:tr>
            </a:tbl>
          </a:graphicData>
        </a:graphic>
      </p:graphicFrame>
    </p:spTree>
    <p:extLst>
      <p:ext uri="{BB962C8B-B14F-4D97-AF65-F5344CB8AC3E}">
        <p14:creationId xmlns:p14="http://schemas.microsoft.com/office/powerpoint/2010/main" val="3921844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E53C-9DAA-373E-AE64-4DF7A5449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FE6B9-3F6C-D2A8-6558-C5B9C38EEC6E}"/>
              </a:ext>
            </a:extLst>
          </p:cNvPr>
          <p:cNvSpPr>
            <a:spLocks noGrp="1"/>
          </p:cNvSpPr>
          <p:nvPr>
            <p:ph type="title"/>
          </p:nvPr>
        </p:nvSpPr>
        <p:spPr/>
        <p:txBody>
          <a:bodyPr/>
          <a:lstStyle/>
          <a:p>
            <a:r>
              <a:rPr lang="en-GB" dirty="0"/>
              <a:t>KNN</a:t>
            </a:r>
            <a:endParaRPr lang="nl-NL" dirty="0"/>
          </a:p>
        </p:txBody>
      </p:sp>
      <p:sp>
        <p:nvSpPr>
          <p:cNvPr id="4" name="Content Placeholder 3">
            <a:extLst>
              <a:ext uri="{FF2B5EF4-FFF2-40B4-BE49-F238E27FC236}">
                <a16:creationId xmlns:a16="http://schemas.microsoft.com/office/drawing/2014/main" id="{35105DE9-36D5-5B88-8BB2-D82FEB35A2D1}"/>
              </a:ext>
            </a:extLst>
          </p:cNvPr>
          <p:cNvSpPr>
            <a:spLocks noGrp="1"/>
          </p:cNvSpPr>
          <p:nvPr>
            <p:ph sz="half" idx="1"/>
          </p:nvPr>
        </p:nvSpPr>
        <p:spPr/>
        <p:txBody>
          <a:bodyPr/>
          <a:lstStyle/>
          <a:p>
            <a:r>
              <a:rPr lang="en-GB" dirty="0"/>
              <a:t>K-value was chosen using </a:t>
            </a:r>
            <a:r>
              <a:rPr lang="en-GB" dirty="0" err="1"/>
              <a:t>GridSearchCV</a:t>
            </a:r>
            <a:r>
              <a:rPr lang="en-GB" dirty="0"/>
              <a:t> library</a:t>
            </a:r>
          </a:p>
          <a:p>
            <a:r>
              <a:rPr lang="en-GB" dirty="0"/>
              <a:t>Feed sample of train data into CV pipeline</a:t>
            </a:r>
          </a:p>
          <a:p>
            <a:r>
              <a:rPr lang="en-GB" dirty="0"/>
              <a:t>Get K-values, weight and distance metric</a:t>
            </a:r>
          </a:p>
          <a:p>
            <a:r>
              <a:rPr lang="en-GB" dirty="0"/>
              <a:t>Plot K value on graph</a:t>
            </a:r>
            <a:endParaRPr lang="nl-NL" dirty="0"/>
          </a:p>
        </p:txBody>
      </p:sp>
      <p:sp>
        <p:nvSpPr>
          <p:cNvPr id="5" name="Content Placeholder 4">
            <a:extLst>
              <a:ext uri="{FF2B5EF4-FFF2-40B4-BE49-F238E27FC236}">
                <a16:creationId xmlns:a16="http://schemas.microsoft.com/office/drawing/2014/main" id="{0442A48E-D9B9-3172-6A01-B4C4D68AFEEE}"/>
              </a:ext>
            </a:extLst>
          </p:cNvPr>
          <p:cNvSpPr>
            <a:spLocks noGrp="1"/>
          </p:cNvSpPr>
          <p:nvPr>
            <p:ph sz="half" idx="2"/>
          </p:nvPr>
        </p:nvSpPr>
        <p:spPr/>
        <p:txBody>
          <a:bodyPr/>
          <a:lstStyle/>
          <a:p>
            <a:endParaRPr lang="nl-NL" dirty="0"/>
          </a:p>
        </p:txBody>
      </p:sp>
    </p:spTree>
    <p:extLst>
      <p:ext uri="{BB962C8B-B14F-4D97-AF65-F5344CB8AC3E}">
        <p14:creationId xmlns:p14="http://schemas.microsoft.com/office/powerpoint/2010/main" val="26783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0ABFD-C9FD-277D-D03B-DA3E56EDA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93A36-3260-0514-5B78-D08F91096683}"/>
              </a:ext>
            </a:extLst>
          </p:cNvPr>
          <p:cNvSpPr>
            <a:spLocks noGrp="1"/>
          </p:cNvSpPr>
          <p:nvPr>
            <p:ph type="title"/>
          </p:nvPr>
        </p:nvSpPr>
        <p:spPr/>
        <p:txBody>
          <a:bodyPr/>
          <a:lstStyle/>
          <a:p>
            <a:r>
              <a:rPr lang="en-GB" dirty="0"/>
              <a:t>KNN</a:t>
            </a:r>
            <a:endParaRPr lang="nl-NL" dirty="0"/>
          </a:p>
        </p:txBody>
      </p:sp>
      <p:sp>
        <p:nvSpPr>
          <p:cNvPr id="4" name="Text Placeholder 3">
            <a:extLst>
              <a:ext uri="{FF2B5EF4-FFF2-40B4-BE49-F238E27FC236}">
                <a16:creationId xmlns:a16="http://schemas.microsoft.com/office/drawing/2014/main" id="{6CF9491E-42D0-D4EB-FE8B-CF7F29E2E4F6}"/>
              </a:ext>
            </a:extLst>
          </p:cNvPr>
          <p:cNvSpPr>
            <a:spLocks noGrp="1"/>
          </p:cNvSpPr>
          <p:nvPr>
            <p:ph type="body" idx="1"/>
          </p:nvPr>
        </p:nvSpPr>
        <p:spPr/>
        <p:txBody>
          <a:bodyPr/>
          <a:lstStyle/>
          <a:p>
            <a:r>
              <a:rPr lang="en-GB" dirty="0"/>
              <a:t>Splitting on player id</a:t>
            </a:r>
            <a:endParaRPr lang="nl-NL" dirty="0"/>
          </a:p>
        </p:txBody>
      </p:sp>
      <p:sp>
        <p:nvSpPr>
          <p:cNvPr id="5" name="Content Placeholder 4">
            <a:extLst>
              <a:ext uri="{FF2B5EF4-FFF2-40B4-BE49-F238E27FC236}">
                <a16:creationId xmlns:a16="http://schemas.microsoft.com/office/drawing/2014/main" id="{A8F48452-D32D-0119-4AFE-6873F2DBDEF9}"/>
              </a:ext>
            </a:extLst>
          </p:cNvPr>
          <p:cNvSpPr>
            <a:spLocks noGrp="1"/>
          </p:cNvSpPr>
          <p:nvPr>
            <p:ph sz="half" idx="2"/>
          </p:nvPr>
        </p:nvSpPr>
        <p:spPr/>
        <p:txBody>
          <a:bodyPr>
            <a:normAutofit/>
          </a:bodyPr>
          <a:lstStyle/>
          <a:p>
            <a:r>
              <a:rPr lang="en-GB" sz="2200" dirty="0"/>
              <a:t>Train set is 80% of players</a:t>
            </a:r>
          </a:p>
          <a:p>
            <a:r>
              <a:rPr lang="en-GB" sz="2200" dirty="0"/>
              <a:t>Test set is 20% of payers</a:t>
            </a:r>
          </a:p>
          <a:p>
            <a:r>
              <a:rPr lang="en-GB" sz="2200" dirty="0"/>
              <a:t>Train and test with full careers</a:t>
            </a:r>
            <a:endParaRPr lang="nl-NL" sz="2200" dirty="0"/>
          </a:p>
        </p:txBody>
      </p:sp>
      <p:sp>
        <p:nvSpPr>
          <p:cNvPr id="6" name="Text Placeholder 5">
            <a:extLst>
              <a:ext uri="{FF2B5EF4-FFF2-40B4-BE49-F238E27FC236}">
                <a16:creationId xmlns:a16="http://schemas.microsoft.com/office/drawing/2014/main" id="{BCC7217A-C6B4-C711-5968-14B18CAC7AD5}"/>
              </a:ext>
            </a:extLst>
          </p:cNvPr>
          <p:cNvSpPr>
            <a:spLocks noGrp="1"/>
          </p:cNvSpPr>
          <p:nvPr>
            <p:ph type="body" sz="quarter" idx="3"/>
          </p:nvPr>
        </p:nvSpPr>
        <p:spPr/>
        <p:txBody>
          <a:bodyPr/>
          <a:lstStyle/>
          <a:p>
            <a:r>
              <a:rPr lang="en-GB" dirty="0"/>
              <a:t>Splitting on days of experience &amp; player id</a:t>
            </a:r>
            <a:endParaRPr lang="nl-NL" dirty="0"/>
          </a:p>
        </p:txBody>
      </p:sp>
      <p:sp>
        <p:nvSpPr>
          <p:cNvPr id="7" name="Content Placeholder 6">
            <a:extLst>
              <a:ext uri="{FF2B5EF4-FFF2-40B4-BE49-F238E27FC236}">
                <a16:creationId xmlns:a16="http://schemas.microsoft.com/office/drawing/2014/main" id="{288826CC-B532-91B9-5CA3-7A430C149FCD}"/>
              </a:ext>
            </a:extLst>
          </p:cNvPr>
          <p:cNvSpPr>
            <a:spLocks noGrp="1"/>
          </p:cNvSpPr>
          <p:nvPr>
            <p:ph sz="quarter" idx="4"/>
          </p:nvPr>
        </p:nvSpPr>
        <p:spPr/>
        <p:txBody>
          <a:bodyPr>
            <a:normAutofit/>
          </a:bodyPr>
          <a:lstStyle/>
          <a:p>
            <a:r>
              <a:rPr lang="en-GB" sz="2200" dirty="0"/>
              <a:t>Train set is all careers up to a cut off point plus 50% of the data after the cut off point</a:t>
            </a:r>
          </a:p>
          <a:p>
            <a:r>
              <a:rPr lang="en-GB" sz="2200" dirty="0"/>
              <a:t>Test set is all data after the cut off point</a:t>
            </a:r>
          </a:p>
          <a:p>
            <a:r>
              <a:rPr lang="en-GB" sz="2200" dirty="0"/>
              <a:t>All stats frozen except days and age; you don’t know how good a player will play in the future</a:t>
            </a:r>
          </a:p>
          <a:p>
            <a:r>
              <a:rPr lang="en-GB" sz="2200" dirty="0"/>
              <a:t>Test only with latter part of career</a:t>
            </a:r>
          </a:p>
          <a:p>
            <a:r>
              <a:rPr lang="en-GB" sz="2200" dirty="0"/>
              <a:t>Can isolate specific players</a:t>
            </a:r>
            <a:endParaRPr lang="nl-NL" sz="2200" dirty="0"/>
          </a:p>
        </p:txBody>
      </p:sp>
    </p:spTree>
    <p:extLst>
      <p:ext uri="{BB962C8B-B14F-4D97-AF65-F5344CB8AC3E}">
        <p14:creationId xmlns:p14="http://schemas.microsoft.com/office/powerpoint/2010/main" val="1088180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94CB-E425-4730-8EFF-97BD03597B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89CE2-5C40-11D0-AE46-E5509348084E}"/>
              </a:ext>
            </a:extLst>
          </p:cNvPr>
          <p:cNvSpPr>
            <a:spLocks noGrp="1"/>
          </p:cNvSpPr>
          <p:nvPr>
            <p:ph type="title"/>
          </p:nvPr>
        </p:nvSpPr>
        <p:spPr/>
        <p:txBody>
          <a:bodyPr/>
          <a:lstStyle/>
          <a:p>
            <a:r>
              <a:rPr lang="en-GB" dirty="0" err="1"/>
              <a:t>XGBoost</a:t>
            </a:r>
            <a:endParaRPr lang="nl-NL" dirty="0"/>
          </a:p>
        </p:txBody>
      </p:sp>
      <p:sp>
        <p:nvSpPr>
          <p:cNvPr id="3" name="Content Placeholder 2">
            <a:extLst>
              <a:ext uri="{FF2B5EF4-FFF2-40B4-BE49-F238E27FC236}">
                <a16:creationId xmlns:a16="http://schemas.microsoft.com/office/drawing/2014/main" id="{D580C46A-4433-DBA6-2862-8E2A11B9F196}"/>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120786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F6CA-AF09-5467-26F4-03CFF596F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09188-D3E8-882F-A574-77524C95291A}"/>
              </a:ext>
            </a:extLst>
          </p:cNvPr>
          <p:cNvSpPr>
            <a:spLocks noGrp="1"/>
          </p:cNvSpPr>
          <p:nvPr>
            <p:ph type="title"/>
          </p:nvPr>
        </p:nvSpPr>
        <p:spPr/>
        <p:txBody>
          <a:bodyPr/>
          <a:lstStyle/>
          <a:p>
            <a:r>
              <a:rPr lang="en-GB" dirty="0" err="1"/>
              <a:t>XGBoost</a:t>
            </a:r>
            <a:endParaRPr lang="nl-NL" dirty="0"/>
          </a:p>
        </p:txBody>
      </p:sp>
      <p:sp>
        <p:nvSpPr>
          <p:cNvPr id="3" name="Content Placeholder 2">
            <a:extLst>
              <a:ext uri="{FF2B5EF4-FFF2-40B4-BE49-F238E27FC236}">
                <a16:creationId xmlns:a16="http://schemas.microsoft.com/office/drawing/2014/main" id="{F1109F70-C396-A6AD-84D1-D6FB8D2646C0}"/>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2605668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3F29-B58B-D853-3A3D-8A2E18C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71611-8F67-8C6A-3AFC-7B5FC2CA9B87}"/>
              </a:ext>
            </a:extLst>
          </p:cNvPr>
          <p:cNvSpPr>
            <a:spLocks noGrp="1"/>
          </p:cNvSpPr>
          <p:nvPr>
            <p:ph type="title"/>
          </p:nvPr>
        </p:nvSpPr>
        <p:spPr/>
        <p:txBody>
          <a:bodyPr/>
          <a:lstStyle/>
          <a:p>
            <a:r>
              <a:rPr lang="en-GB" dirty="0" err="1"/>
              <a:t>XGBoost</a:t>
            </a:r>
            <a:endParaRPr lang="nl-NL" dirty="0"/>
          </a:p>
        </p:txBody>
      </p:sp>
      <p:sp>
        <p:nvSpPr>
          <p:cNvPr id="3" name="Content Placeholder 2">
            <a:extLst>
              <a:ext uri="{FF2B5EF4-FFF2-40B4-BE49-F238E27FC236}">
                <a16:creationId xmlns:a16="http://schemas.microsoft.com/office/drawing/2014/main" id="{7DB445EE-2B11-098F-C7C6-C28B92753D04}"/>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741000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043EC-90C3-8883-6DA7-EDB6AFEF0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27FD3-4D78-D4EE-49D3-1ACE9B706603}"/>
              </a:ext>
            </a:extLst>
          </p:cNvPr>
          <p:cNvSpPr>
            <a:spLocks noGrp="1"/>
          </p:cNvSpPr>
          <p:nvPr>
            <p:ph type="title"/>
          </p:nvPr>
        </p:nvSpPr>
        <p:spPr/>
        <p:txBody>
          <a:bodyPr/>
          <a:lstStyle/>
          <a:p>
            <a:r>
              <a:rPr lang="en-GB" dirty="0" err="1"/>
              <a:t>XGBoost</a:t>
            </a:r>
            <a:endParaRPr lang="nl-NL" dirty="0"/>
          </a:p>
        </p:txBody>
      </p:sp>
      <p:sp>
        <p:nvSpPr>
          <p:cNvPr id="3" name="Content Placeholder 2">
            <a:extLst>
              <a:ext uri="{FF2B5EF4-FFF2-40B4-BE49-F238E27FC236}">
                <a16:creationId xmlns:a16="http://schemas.microsoft.com/office/drawing/2014/main" id="{AF26EDAB-32C5-48E8-CE9E-C220F27289DA}"/>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304981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E2A0E-B5EC-2893-BD42-1747BF7AB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B96E7-20FC-813D-E93F-59DC84ECDD63}"/>
              </a:ext>
            </a:extLst>
          </p:cNvPr>
          <p:cNvSpPr>
            <a:spLocks noGrp="1"/>
          </p:cNvSpPr>
          <p:nvPr>
            <p:ph type="title"/>
          </p:nvPr>
        </p:nvSpPr>
        <p:spPr/>
        <p:txBody>
          <a:bodyPr/>
          <a:lstStyle/>
          <a:p>
            <a:r>
              <a:rPr lang="en-GB" dirty="0"/>
              <a:t>Validation</a:t>
            </a:r>
            <a:endParaRPr lang="nl-NL" dirty="0"/>
          </a:p>
        </p:txBody>
      </p:sp>
      <p:sp>
        <p:nvSpPr>
          <p:cNvPr id="3" name="Content Placeholder 2">
            <a:extLst>
              <a:ext uri="{FF2B5EF4-FFF2-40B4-BE49-F238E27FC236}">
                <a16:creationId xmlns:a16="http://schemas.microsoft.com/office/drawing/2014/main" id="{BEE3FBA5-9237-FA2E-249E-8D63FD32CE82}"/>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3794386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D8752-E51B-4B5C-5DDC-FE6F9683E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C9862-6ADB-A7EB-3503-B2C3B99CDC83}"/>
              </a:ext>
            </a:extLst>
          </p:cNvPr>
          <p:cNvSpPr>
            <a:spLocks noGrp="1"/>
          </p:cNvSpPr>
          <p:nvPr>
            <p:ph type="title"/>
          </p:nvPr>
        </p:nvSpPr>
        <p:spPr/>
        <p:txBody>
          <a:bodyPr/>
          <a:lstStyle/>
          <a:p>
            <a:r>
              <a:rPr lang="en-GB" dirty="0"/>
              <a:t>Validation</a:t>
            </a:r>
            <a:endParaRPr lang="nl-NL" dirty="0"/>
          </a:p>
        </p:txBody>
      </p:sp>
      <p:sp>
        <p:nvSpPr>
          <p:cNvPr id="3" name="Content Placeholder 2">
            <a:extLst>
              <a:ext uri="{FF2B5EF4-FFF2-40B4-BE49-F238E27FC236}">
                <a16:creationId xmlns:a16="http://schemas.microsoft.com/office/drawing/2014/main" id="{A6B83E96-0973-AA69-C921-8AE0A73C060F}"/>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2505058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3FC4D-38F5-3A27-45EB-85EA87655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B4CE0-2F41-9A84-5638-D68D4CA8E01E}"/>
              </a:ext>
            </a:extLst>
          </p:cNvPr>
          <p:cNvSpPr>
            <a:spLocks noGrp="1"/>
          </p:cNvSpPr>
          <p:nvPr>
            <p:ph type="title"/>
          </p:nvPr>
        </p:nvSpPr>
        <p:spPr/>
        <p:txBody>
          <a:bodyPr/>
          <a:lstStyle/>
          <a:p>
            <a:r>
              <a:rPr lang="en-GB" dirty="0"/>
              <a:t>Comparison player 1</a:t>
            </a:r>
            <a:endParaRPr lang="nl-NL" dirty="0"/>
          </a:p>
        </p:txBody>
      </p:sp>
      <p:sp>
        <p:nvSpPr>
          <p:cNvPr id="3" name="Content Placeholder 2">
            <a:extLst>
              <a:ext uri="{FF2B5EF4-FFF2-40B4-BE49-F238E27FC236}">
                <a16:creationId xmlns:a16="http://schemas.microsoft.com/office/drawing/2014/main" id="{C2E3EBB1-2D47-5B3C-97FA-7492FFC20A4C}"/>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1698495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7CF0-A48F-7D8B-2986-15A40904E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2D4AA-A1D3-4EB6-0986-567B84C221C0}"/>
              </a:ext>
            </a:extLst>
          </p:cNvPr>
          <p:cNvSpPr>
            <a:spLocks noGrp="1"/>
          </p:cNvSpPr>
          <p:nvPr>
            <p:ph type="title"/>
          </p:nvPr>
        </p:nvSpPr>
        <p:spPr/>
        <p:txBody>
          <a:bodyPr/>
          <a:lstStyle/>
          <a:p>
            <a:r>
              <a:rPr lang="en-GB" dirty="0"/>
              <a:t>Comparison player 2</a:t>
            </a:r>
            <a:endParaRPr lang="nl-NL" dirty="0"/>
          </a:p>
        </p:txBody>
      </p:sp>
      <p:sp>
        <p:nvSpPr>
          <p:cNvPr id="3" name="Content Placeholder 2">
            <a:extLst>
              <a:ext uri="{FF2B5EF4-FFF2-40B4-BE49-F238E27FC236}">
                <a16:creationId xmlns:a16="http://schemas.microsoft.com/office/drawing/2014/main" id="{D9140726-8D88-A46E-7A70-4A16F2210405}"/>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265983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1376B-024F-2BCA-B2B0-7109C3843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744FB-8596-959C-D49B-FA7AC5566C72}"/>
              </a:ext>
            </a:extLst>
          </p:cNvPr>
          <p:cNvSpPr>
            <a:spLocks noGrp="1"/>
          </p:cNvSpPr>
          <p:nvPr>
            <p:ph type="title"/>
          </p:nvPr>
        </p:nvSpPr>
        <p:spPr/>
        <p:txBody>
          <a:bodyPr/>
          <a:lstStyle/>
          <a:p>
            <a:r>
              <a:rPr lang="en-GB" dirty="0"/>
              <a:t>Comparison player 3</a:t>
            </a:r>
            <a:endParaRPr lang="nl-NL" dirty="0"/>
          </a:p>
        </p:txBody>
      </p:sp>
      <p:sp>
        <p:nvSpPr>
          <p:cNvPr id="3" name="Content Placeholder 2">
            <a:extLst>
              <a:ext uri="{FF2B5EF4-FFF2-40B4-BE49-F238E27FC236}">
                <a16:creationId xmlns:a16="http://schemas.microsoft.com/office/drawing/2014/main" id="{FD1FD2C7-4852-5EA2-61E0-53F5D60B3C38}"/>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1895877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F2A5-3933-ACB4-795B-629A03934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C9FC4-37A9-335F-210E-64668742B8DC}"/>
              </a:ext>
            </a:extLst>
          </p:cNvPr>
          <p:cNvSpPr>
            <a:spLocks noGrp="1"/>
          </p:cNvSpPr>
          <p:nvPr>
            <p:ph type="title"/>
          </p:nvPr>
        </p:nvSpPr>
        <p:spPr/>
        <p:txBody>
          <a:bodyPr/>
          <a:lstStyle/>
          <a:p>
            <a:r>
              <a:rPr lang="en-GB" dirty="0"/>
              <a:t>Conclusion</a:t>
            </a:r>
            <a:endParaRPr lang="nl-NL" dirty="0"/>
          </a:p>
        </p:txBody>
      </p:sp>
      <p:sp>
        <p:nvSpPr>
          <p:cNvPr id="3" name="Content Placeholder 2">
            <a:extLst>
              <a:ext uri="{FF2B5EF4-FFF2-40B4-BE49-F238E27FC236}">
                <a16:creationId xmlns:a16="http://schemas.microsoft.com/office/drawing/2014/main" id="{5B1FDF90-6629-5513-E1FA-F744CCC50162}"/>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738412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7E5B2-1E36-7CFE-872E-4D840B103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88E7D-7ED2-3D0D-8F2F-6CFB0E14FA6D}"/>
              </a:ext>
            </a:extLst>
          </p:cNvPr>
          <p:cNvSpPr>
            <a:spLocks noGrp="1"/>
          </p:cNvSpPr>
          <p:nvPr>
            <p:ph type="title"/>
          </p:nvPr>
        </p:nvSpPr>
        <p:spPr/>
        <p:txBody>
          <a:bodyPr/>
          <a:lstStyle/>
          <a:p>
            <a:r>
              <a:rPr lang="en-GB" dirty="0"/>
              <a:t>Recommendations</a:t>
            </a:r>
            <a:endParaRPr lang="nl-NL" dirty="0"/>
          </a:p>
        </p:txBody>
      </p:sp>
      <p:sp>
        <p:nvSpPr>
          <p:cNvPr id="3" name="Content Placeholder 2">
            <a:extLst>
              <a:ext uri="{FF2B5EF4-FFF2-40B4-BE49-F238E27FC236}">
                <a16:creationId xmlns:a16="http://schemas.microsoft.com/office/drawing/2014/main" id="{820DC6DC-1767-D27A-6498-889946F2DCA8}"/>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1604843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TotalTime>
  <Words>717</Words>
  <Application>Microsoft Office PowerPoint</Application>
  <PresentationFormat>Widescreen</PresentationFormat>
  <Paragraphs>107</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Group 2</vt:lpstr>
      <vt:lpstr>Table of Contents</vt:lpstr>
      <vt:lpstr>The business value</vt:lpstr>
      <vt:lpstr>Dataset</vt:lpstr>
      <vt:lpstr>KNN</vt:lpstr>
      <vt:lpstr>KNN</vt:lpstr>
      <vt:lpstr>KNN</vt:lpstr>
      <vt:lpstr>KNN</vt:lpstr>
      <vt:lpstr>KNN</vt:lpstr>
      <vt:lpstr>XGBoost</vt:lpstr>
      <vt:lpstr>XGBoost</vt:lpstr>
      <vt:lpstr>XGBoost</vt:lpstr>
      <vt:lpstr>XGBoost</vt:lpstr>
      <vt:lpstr>Validation</vt:lpstr>
      <vt:lpstr>Validation</vt:lpstr>
      <vt:lpstr>Comparison player 1</vt:lpstr>
      <vt:lpstr>Comparison player 2</vt:lpstr>
      <vt:lpstr>Comparison player 3</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Golbert Ceita Pagês (1036067)</dc:creator>
  <cp:lastModifiedBy>Golbert Ceita Pagês (1036067)</cp:lastModifiedBy>
  <cp:revision>8</cp:revision>
  <dcterms:created xsi:type="dcterms:W3CDTF">2026-01-27T17:31:12Z</dcterms:created>
  <dcterms:modified xsi:type="dcterms:W3CDTF">2026-01-27T22:17:05Z</dcterms:modified>
</cp:coreProperties>
</file>